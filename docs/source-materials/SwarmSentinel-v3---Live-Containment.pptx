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13"/>
    <p:sldId id="267" r:id="rId14"/>
    <p:sldId id="268" r:id="rId15"/>
    <p:sldId id="272" r:id="rId16"/>
    <p:sldId id="269" r:id="rId17"/>
    <p:sldId id="271"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70"/>
            <p14:sldId id="267"/>
          </p14:sldIdLst>
        </p14:section>
        <p14:section name="Close" id="{BF105172-580D-460C-31F3-30A48CA27F59}">
          <p14:sldIdLst>
            <p14:sldId id="268"/>
            <p14:sldId id="272"/>
            <p14:sldId id="269"/>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67"/>
    <p:restoredTop sz="81491"/>
  </p:normalViewPr>
  <p:slideViewPr>
    <p:cSldViewPr snapToGrid="0" snapToObjects="1">
      <p:cViewPr varScale="1">
        <p:scale>
          <a:sx n="152" d="100"/>
          <a:sy n="152" d="100"/>
        </p:scale>
        <p:origin x="27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00B0F0"/>
            </a:solidFill>
            <a:ln>
              <a:solidFill>
                <a:srgbClr val="00B0F0"/>
              </a:solidFill>
            </a:ln>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SwarmSentinel: a security checkpoint for AI agent swarms.</a:t>
            </a:r>
          </a:p>
          <a:p>
            <a:r>
              <a:rPr lang="en-US" dirty="0"/>
              <a:t>- Built on my ASP preprint; the QR code links to it.</a:t>
            </a:r>
          </a:p>
          <a:p>
            <a:r>
              <a:rPr lang="en-US" b="1" dirty="0"/>
              <a:t>Full notes:</a:t>
            </a:r>
          </a:p>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Swarms fail as a system: injections spread, tools get misused, loops never stop.</a:t>
            </a:r>
          </a:p>
          <a:p>
            <a:r>
              <a:rPr lang="en-US" dirty="0"/>
              <a:t>- No single agent's log shows it.</a:t>
            </a:r>
          </a:p>
          <a:p>
            <a:r>
              <a:rPr lang="en-US" b="1" dirty="0"/>
              <a:t>Full notes:</a:t>
            </a:r>
          </a:p>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model can be fooled, so the check moves outside it.</a:t>
            </a:r>
          </a:p>
          <a:p>
            <a:r>
              <a:rPr lang="en-US" dirty="0"/>
              <a:t>- Every tool call stops at a gateway that reads a policy file.</a:t>
            </a:r>
          </a:p>
          <a:p>
            <a:r>
              <a:rPr lang="en-US" b="1" dirty="0"/>
              <a:t>Full notes:</a:t>
            </a:r>
          </a:p>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Eight threats: five enforced today.</a:t>
            </a:r>
          </a:p>
          <a:p>
            <a:r>
              <a:rPr lang="en-US" dirty="0"/>
              <a:t>- We mark the rest as report-only, observe-only or partial.</a:t>
            </a:r>
          </a:p>
          <a:p>
            <a:r>
              <a:rPr lang="en-US" b="1" dirty="0"/>
              <a:t>Full notes:</a:t>
            </a:r>
          </a:p>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agent asks, the gateway decides, the Sentinel watches the whole swarm.</a:t>
            </a:r>
          </a:p>
          <a:p>
            <a:r>
              <a:rPr lang="en-US" dirty="0"/>
              <a:t>- Compromised branches get revoked.</a:t>
            </a:r>
          </a:p>
          <a:p>
            <a:r>
              <a:rPr lang="en-US" b="1" dirty="0"/>
              <a:t>Full notes:</a:t>
            </a:r>
          </a:p>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Policy is a JSON file, not a prompt.</a:t>
            </a:r>
          </a:p>
          <a:p>
            <a:r>
              <a:rPr lang="en-US" dirty="0"/>
              <a:t>- Nine checks in a fixed order.</a:t>
            </a:r>
          </a:p>
          <a:p>
            <a:r>
              <a:rPr lang="en-US" b="1" dirty="0"/>
              <a:t>Full notes:</a:t>
            </a:r>
          </a:p>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 poisoned invoice tries to move $5,000.</a:t>
            </a:r>
          </a:p>
          <a:p>
            <a:r>
              <a:rPr lang="en-US" dirty="0"/>
              <a:t>- Each layer stops one step. Zero dollars move.</a:t>
            </a:r>
          </a:p>
          <a:p>
            <a:r>
              <a:rPr lang="en-US" b="1" dirty="0"/>
              <a:t>Full notes:</a:t>
            </a:r>
          </a:p>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The ledger agent is allowed to pay, yet it is blocked.</a:t>
            </a:r>
          </a:p>
          <a:p>
            <a:r>
              <a:rPr lang="en-US" dirty="0"/>
              <a:t>- The taint travels with the message: scope alone would have paid.</a:t>
            </a:r>
          </a:p>
          <a:p>
            <a:r>
              <a:rPr lang="en-US" b="1" dirty="0"/>
              <a:t>Full notes:</a:t>
            </a:r>
          </a:p>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This runs live: every decision streams in as it happens.</a:t>
            </a:r>
          </a:p>
          <a:p>
            <a:r>
              <a:rPr lang="en-US" b="1" dirty="0"/>
              <a:t>Full notes:</a:t>
            </a:r>
          </a:p>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 attacker needed.</a:t>
            </a:r>
          </a:p>
          <a:p>
            <a:r>
              <a:rPr lang="en-US" dirty="0"/>
              <a:t>- Loops get named and revoked; retry storms get throttled.</a:t>
            </a:r>
          </a:p>
          <a:p>
            <a:r>
              <a:rPr lang="en-US" b="1" dirty="0"/>
              <a:t>Full notes:</a:t>
            </a:r>
          </a:p>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A few lines of Python. Under a millisecond per call.</a:t>
            </a:r>
          </a:p>
          <a:p>
            <a:r>
              <a:rPr lang="en-US" b="1" dirty="0"/>
              <a:t>Full notes:</a:t>
            </a:r>
          </a:p>
          <a:p>
            <a:r>
              <a:rPr lang="en-US" dirty="0"/>
              <a:t>Integration is a standard-library Python file. Wrap a tool with a decorator or call through the guard; a denied call raises instead of running, and an allowed one now reports whether it actually succeeded. The guard tracks which agent spawned which, and the gateway verifies it. Overhead: five thousand calls from twenty agents through full gateway and Sentinel checks, median 0.024 milliseconds in-process and 0.39 over localhost HTTP on an Apple M2. For tools you wrap yourself this is cooperative; the four demo tools run inside the engine, so there is nothing to bypass.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Allowed is not done: tools report success or failure.</a:t>
            </a:r>
          </a:p>
          <a:p>
            <a:r>
              <a:rPr lang="en-US" dirty="0"/>
              <a:t>- Retries never pay twice.</a:t>
            </a:r>
          </a:p>
          <a:p>
            <a:r>
              <a:rPr lang="en-US" b="1" dirty="0"/>
              <a:t>Full notes:</a:t>
            </a:r>
          </a:p>
          <a:p>
            <a:r>
              <a:rPr lang="en-US" dirty="0"/>
              <a:t>The gateway answers before a tool runs, so allowed means permission, not that the work happened. Tools now send a completion receipt: succeeded or failed, with no results or secrets in it. The dashboard shows authorized calls and actual outcomes separately, so an investigator can tell a payment that was permitted from one that completed. Second, retries are safe. Every sandbox execution carries an idempotency key; if the network drops the reply, retrying with the same key returns the original outcome instead of paying twice. An optional journal lets a caller recover after its own process restarts. Sessions themselves still live in memory and are lost if the engine restarts.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We replayed 1.23 million real agent actions.</a:t>
            </a:r>
          </a:p>
          <a:p>
            <a:r>
              <a:rPr lang="en-US" dirty="0"/>
              <a:t>- The policy would have blocked 7.9%, including 4,681 credential reads. All counterfactual.</a:t>
            </a:r>
          </a:p>
          <a:p>
            <a:r>
              <a:rPr lang="en-US" b="1" dirty="0"/>
              <a:t>Full notes:</a:t>
            </a:r>
          </a:p>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Not yet: OS isolation, and wrapped tools can be bypassed.</a:t>
            </a:r>
          </a:p>
          <a:p>
            <a:r>
              <a:rPr lang="en-US" dirty="0"/>
              <a:t>- Next: an MCP proxy in front of every tool.</a:t>
            </a:r>
          </a:p>
          <a:p>
            <a:r>
              <a:rPr lang="en-US" b="1" dirty="0"/>
              <a:t>Full notes:</a:t>
            </a:r>
          </a:p>
          <a:p>
            <a:r>
              <a:rPr lang="en-US" dirty="0"/>
              <a:t>What this is not, yet. Tools you wrap with our guard are cooperative: an agent that calls them directly is not stopped. Only the four engine-owned demo tools are truly behind the gateway. There is no container or operating-system isolation, and sessions live in memory, so an engine restart loses them. In the real-agent runs the models are instructed to probe the guard, so those runs prove the guard holds, not that a model was fooled spontaneously. Thresholds were tuned on one dataset. The roadmap answers each: an MCP proxy so every tool sits behind the gateway, process or container isolation, durable sessions, taint through shared files, and server-assigned policies beyond the demo.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(~15 s):</a:t>
            </a:r>
          </a:p>
          <a:p>
            <a:r>
              <a:rPr lang="en-US" dirty="0"/>
              <a:t>- Try it at swarmsentinel.replit.app.</a:t>
            </a:r>
          </a:p>
          <a:p>
            <a:r>
              <a:rPr lang="en-US" dirty="0"/>
              <a:t>- Each tab is one story from this talk; AI Village opens for approved accounts only.</a:t>
            </a:r>
          </a:p>
          <a:p>
            <a:r>
              <a:rPr lang="en-US" b="1" dirty="0"/>
              <a:t>Full notes:</a:t>
            </a:r>
          </a:p>
          <a:p>
            <a:r>
              <a:rPr lang="en-US" dirty="0"/>
              <a:t>The deployed app has six tabs on one engine. Normal Run is the clean baseline: three agents with distinct tasks and no alerts. Swarm Attack shows delegation chains, echoed answers and fan-out tripping the Sentinel, which revokes the branches. Prompt Injection is the poisoned-invoice attack from the paper: the $5,000 transfer is stopped by scope and taint. Runaway Loop has no attacker: a plan-execute-critique cycle that never converges and a scraper retrying 22 times, named and throttled. AI Village replays real dataset episodes in report-only mode, so results are counterfactual; it is dimmed unless the signed-in account is an approved reader, and judges can rebuild it locally with docs/JUDGES.md. Live connects real agents to engine-owned tools and streams each decision as it happens.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Paper, code and demo are all linked here. Thank you.</a:t>
            </a:r>
          </a:p>
          <a:p>
            <a:r>
              <a:rPr lang="en-US" b="1" dirty="0"/>
              <a:t>Full notes:</a:t>
            </a:r>
          </a:p>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SAY (~10 s):</a:t>
            </a:r>
          </a:p>
          <a:p>
            <a:r>
              <a:rPr lang="en-US" dirty="0"/>
              <a:t>- Skip in the recording; appendix for judges.</a:t>
            </a:r>
          </a:p>
          <a:p>
            <a:r>
              <a:rPr lang="en-US" b="1" dirty="0"/>
              <a:t>Full notes:</a:t>
            </a:r>
          </a:p>
          <a:p>
            <a:r>
              <a:rPr lang="en-US" dirty="0"/>
              <a:t>Appendix for judges; hidden during the talk. The AI Village data cannot be redistributed, so judges with their own approved Hugging Face access can rebuild the same local SQLite store: download seven tables, run village.ingest and village.scan, about ten minutes on a laptop. Then python -m village.replay lists the ranked episodes and replays one, writing the same report and trace the dashboard exports, with no sign-in. The dashboard path needs a free Clerk development app. Full steps are in docs/JUDGES.md.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rgbClr val="00B0F0"/>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rgbClr val="00B0F0"/>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www.linkedin.com/in/prasad-m-k"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hyperlink" Target="https://swarmsentinel.replit.app/"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16</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rgbClr val="00B0F0"/>
                </a:solidFill>
              </a:rPr>
              <a:t>AI Swarm Dynamics Hackathon · AI Village</a:t>
            </a:r>
            <a:endParaRPr lang="en-US" sz="1800" dirty="0">
              <a:solidFill>
                <a:srgbClr val="00B0F0"/>
              </a:solidFill>
            </a:endParaRPr>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rgbClr val="00B0F0"/>
                </a:solidFill>
              </a:rPr>
              <a:t>Prasad MK</a:t>
            </a:r>
            <a:endParaRPr lang="en-US" sz="1600" dirty="0">
              <a:solidFill>
                <a:srgbClr val="00B0F0"/>
              </a:solidFill>
            </a:endParaRPr>
          </a:p>
        </p:txBody>
      </p:sp>
      <p:sp>
        <p:nvSpPr>
          <p:cNvPr id="7" name="Paper DOI">
            <a:hlinkClick r:id="rId3" tooltip="Agent Security Policy (ASP) preprint on SSRN"/>
          </p:cNvPr>
          <p:cNvSpPr txBox="1"/>
          <p:nvPr/>
        </p:nvSpPr>
        <p:spPr>
          <a:xfrm>
            <a:off x="566928" y="4389120"/>
            <a:ext cx="6309360" cy="475488"/>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u="sng" dirty="0">
              <a:solidFill>
                <a:schemeClr val="tx2"/>
              </a:solidFill>
              <a:latin typeface="JetBrains Mono" pitchFamily="34" charset="0"/>
              <a:ea typeface="JetBrains Mono" pitchFamily="34" charset="-122"/>
              <a:cs typeface="JetBrains Mono" pitchFamily="34" charset="-120"/>
            </a:endParaRPr>
          </a:p>
          <a:p>
            <a:r>
              <a:rPr lang="en-US" sz="1130" dirty="0">
                <a:solidFill>
                  <a:srgbClr val="00B0F0"/>
                </a:solidFill>
                <a:hlinkClick r:id="rId4">
                  <a:extLst>
                    <a:ext uri="{A12FA001-AC4F-418D-AE19-62706E023703}">
                      <ahyp:hlinkClr xmlns:ahyp="http://schemas.microsoft.com/office/drawing/2018/hyperlinkcolor" val="tx"/>
                    </a:ext>
                  </a:extLst>
                </a:hlinkClick>
              </a:rPr>
              <a:t>https://www.linkedin.com/in/prasad-m-k</a:t>
            </a:r>
            <a:endParaRPr lang="en-US" sz="1130" dirty="0">
              <a:solidFill>
                <a:srgbClr val="00B0F0"/>
              </a:solidFill>
            </a:endParaRPr>
          </a:p>
        </p:txBody>
      </p:sp>
      <p:pic>
        <p:nvPicPr>
          <p:cNvPr id="8" name="ASP preprint QR code" descr="QR code linking to the ASP preprint on SSRN (DOI 10.2139/ssrn.6876926)"/>
          <p:cNvPicPr>
            <a:picLocks noChangeAspect="1"/>
          </p:cNvPicPr>
          <p:nvPr/>
        </p:nvPicPr>
        <p:blipFill>
          <a:blip r:embed="rId5"/>
          <a:stretch>
            <a:fillRect/>
          </a:stretch>
        </p:blipFill>
        <p:spPr>
          <a:xfrm>
            <a:off x="7406640" y="2606040"/>
            <a:ext cx="1408176" cy="1408176"/>
          </a:xfrm>
          <a:prstGeom prst="rect">
            <a:avLst/>
          </a:prstGeom>
        </p:spPr>
      </p:pic>
      <p:sp>
        <p:nvSpPr>
          <p:cNvPr id="9" name="Text 6"/>
          <p:cNvSpPr txBox="1"/>
          <p:nvPr/>
        </p:nvSpPr>
        <p:spPr>
          <a:xfrm>
            <a:off x="7126224" y="4114800"/>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78040" y="4425696"/>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01</a:t>
            </a:r>
            <a:endParaRPr lang="en-US" sz="2850" dirty="0">
              <a:solidFill>
                <a:srgbClr val="00B0F0"/>
              </a:solidFill>
            </a:endParaRPr>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02</a:t>
            </a:r>
            <a:endParaRPr lang="en-US" sz="2850" dirty="0">
              <a:solidFill>
                <a:srgbClr val="00B0F0"/>
              </a:solidFill>
            </a:endParaRPr>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03</a:t>
            </a:r>
            <a:endParaRPr lang="en-US" sz="2850" dirty="0">
              <a:solidFill>
                <a:srgbClr val="00B0F0"/>
              </a:solidFill>
            </a:endParaRPr>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rgbClr val="00B0F0"/>
                </a:solidFill>
              </a:rPr>
              <a:t>04</a:t>
            </a:r>
            <a:endParaRPr lang="en-US" sz="2850" dirty="0">
              <a:solidFill>
                <a:srgbClr val="00B0F0"/>
              </a:solidFill>
            </a:endParaRPr>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rgbClr val="00B0F0"/>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rgbClr val="00B0F0"/>
                </a:solidFill>
              </a:rPr>
              <a:t>ASP enforcement gateway</a:t>
            </a:r>
            <a:endParaRPr lang="en-US" sz="1350" dirty="0">
              <a:solidFill>
                <a:srgbClr val="00B0F0"/>
              </a:solidFill>
            </a:endParaRPr>
          </a:p>
          <a:p>
            <a:pPr marL="0" indent="0" algn="ctr">
              <a:buNone/>
            </a:pPr>
            <a:r>
              <a:rPr lang="en-US" sz="1100" dirty="0"/>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01</a:t>
            </a:r>
            <a:endParaRPr lang="en-US" sz="2400" dirty="0">
              <a:solidFill>
                <a:srgbClr val="00B0F0"/>
              </a:solidFill>
            </a:endParaRPr>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02</a:t>
            </a:r>
            <a:endParaRPr lang="en-US" sz="2400" dirty="0">
              <a:solidFill>
                <a:srgbClr val="00B0F0"/>
              </a:solidFill>
            </a:endParaRPr>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rgbClr val="00B0F0"/>
                </a:solidFill>
              </a:rPr>
              <a:t>03</a:t>
            </a:r>
            <a:endParaRPr lang="en-US" sz="2400" dirty="0">
              <a:solidFill>
                <a:srgbClr val="00B0F0"/>
              </a:solidFill>
            </a:endParaRPr>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3390365759"/>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Authenticated sessions; demo tools run only inside the engine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a:solidFill>
              <a:srgbClr val="00B0F0"/>
            </a:solid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rgbClr val="00B050"/>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rgbClr val="00B0F0"/>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rgbClr val="00B0F0"/>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1</a:t>
            </a:r>
            <a:endParaRPr lang="en-US" sz="1300" dirty="0">
              <a:solidFill>
                <a:srgbClr val="00B0F0"/>
              </a:solidFill>
            </a:endParaRPr>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2</a:t>
            </a:r>
            <a:endParaRPr lang="en-US" sz="1300" dirty="0">
              <a:solidFill>
                <a:srgbClr val="00B0F0"/>
              </a:solidFill>
            </a:endParaRPr>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3</a:t>
            </a:r>
            <a:endParaRPr lang="en-US" sz="1300" dirty="0">
              <a:solidFill>
                <a:srgbClr val="00B0F0"/>
              </a:solidFill>
            </a:endParaRPr>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4</a:t>
            </a:r>
            <a:endParaRPr lang="en-US" sz="1300" dirty="0">
              <a:solidFill>
                <a:srgbClr val="00B0F0"/>
              </a:solidFill>
            </a:endParaRPr>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5</a:t>
            </a:r>
            <a:endParaRPr lang="en-US" sz="1300" dirty="0">
              <a:solidFill>
                <a:srgbClr val="00B0F0"/>
              </a:solidFill>
            </a:endParaRPr>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6</a:t>
            </a:r>
            <a:endParaRPr lang="en-US" sz="1300" dirty="0">
              <a:solidFill>
                <a:srgbClr val="00B0F0"/>
              </a:solidFill>
            </a:endParaRPr>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7</a:t>
            </a:r>
            <a:endParaRPr lang="en-US" sz="1300" dirty="0">
              <a:solidFill>
                <a:srgbClr val="00B0F0"/>
              </a:solidFill>
            </a:endParaRPr>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8</a:t>
            </a:r>
            <a:endParaRPr lang="en-US" sz="1300" dirty="0">
              <a:solidFill>
                <a:srgbClr val="00B0F0"/>
              </a:solidFill>
            </a:endParaRPr>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rgbClr val="00B0F0"/>
                </a:solidFill>
                <a:latin typeface="JetBrains Mono" pitchFamily="34" charset="0"/>
                <a:ea typeface="JetBrains Mono" pitchFamily="34" charset="-122"/>
                <a:cs typeface="JetBrains Mono" pitchFamily="34" charset="-120"/>
              </a:rPr>
              <a:t>9</a:t>
            </a:r>
            <a:endParaRPr lang="en-US" sz="1300" dirty="0">
              <a:solidFill>
                <a:srgbClr val="00B0F0"/>
              </a:solidFill>
            </a:endParaRPr>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553331027"/>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1</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2</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3</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4</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5</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00B0F0"/>
                          </a:solidFill>
                          <a:latin typeface="IBM Plex Sans" pitchFamily="34" charset="0"/>
                          <a:ea typeface="IBM Plex Sans" pitchFamily="34" charset="-122"/>
                          <a:cs typeface="IBM Plex Sans" pitchFamily="34" charset="-120"/>
                        </a:rPr>
                        <a:t>6</a:t>
                      </a:r>
                      <a:endParaRPr lang="en-US" sz="1250" b="1" dirty="0">
                        <a:solidFill>
                          <a:srgbClr val="00B0F0"/>
                        </a:solidFill>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rgbClr val="00B0F0"/>
              </a:buClr>
              <a:buSzPct val="100000"/>
              <a:buChar char="•"/>
            </a:pPr>
            <a:r>
              <a:rPr lang="en-US" sz="1400" dirty="0">
                <a:solidFill>
                  <a:schemeClr val="tx1"/>
                </a:solidFill>
              </a:rPr>
              <a:t>Launch the attack from the browser</a:t>
            </a:r>
            <a:endParaRPr lang="en-US" sz="1400" dirty="0"/>
          </a:p>
          <a:p>
            <a:pPr marL="177800" indent="-177800">
              <a:spcAft>
                <a:spcPts val="1000"/>
              </a:spcAft>
              <a:buClr>
                <a:srgbClr val="00B0F0"/>
              </a:buClr>
              <a:buSzPct val="100000"/>
              <a:buChar char="•"/>
            </a:pPr>
            <a:r>
              <a:rPr lang="en-US" sz="1400" dirty="0">
                <a:solidFill>
                  <a:schemeClr val="tx1"/>
                </a:solidFill>
              </a:rPr>
              <a:t>Decisions arrive as they happen</a:t>
            </a:r>
            <a:endParaRPr lang="en-US" sz="1400" dirty="0"/>
          </a:p>
          <a:p>
            <a:pPr marL="177800" indent="-177800">
              <a:spcAft>
                <a:spcPts val="1000"/>
              </a:spcAft>
              <a:buClr>
                <a:srgbClr val="00B0F0"/>
              </a:buClr>
              <a:buSzPct val="100000"/>
              <a:buChar char="•"/>
            </a:pPr>
            <a:r>
              <a:rPr lang="en-US" sz="1400" dirty="0">
                <a:solidFill>
                  <a:schemeClr val="tx1"/>
                </a:solidFill>
              </a:rPr>
              <a:t>Tainted, dropped and revoked, live</a:t>
            </a:r>
            <a:endParaRPr lang="en-US" sz="1400" dirty="0"/>
          </a:p>
          <a:p>
            <a:pPr marL="177800" indent="-177800">
              <a:spcAft>
                <a:spcPts val="1000"/>
              </a:spcAft>
              <a:buClr>
                <a:srgbClr val="00B0F0"/>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rgbClr val="00B0F0"/>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rgbClr val="00B0F0"/>
              </a:buClr>
              <a:buSzPct val="100000"/>
              <a:buChar char="•"/>
            </a:pPr>
            <a:r>
              <a:rPr lang="en-US" sz="1400" dirty="0">
                <a:solidFill>
                  <a:schemeClr val="tx1"/>
                </a:solidFill>
              </a:rPr>
              <a:t>Loop members revoked</a:t>
            </a:r>
            <a:endParaRPr lang="en-US" sz="1400" dirty="0"/>
          </a:p>
          <a:p>
            <a:pPr marL="177800" indent="-177800">
              <a:spcAft>
                <a:spcPts val="1000"/>
              </a:spcAft>
              <a:buClr>
                <a:srgbClr val="00B0F0"/>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rgbClr val="00B0F0"/>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0.024 ms</a:t>
            </a:r>
            <a:endParaRPr lang="en-US" sz="2850" dirty="0">
              <a:solidFill>
                <a:srgbClr val="00B0F0"/>
              </a:solidFill>
            </a:endParaRPr>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0.39 ms</a:t>
            </a:r>
            <a:endParaRPr lang="en-US" sz="2850" dirty="0">
              <a:solidFill>
                <a:srgbClr val="00B0F0"/>
              </a:solidFill>
            </a:endParaRPr>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Allowed is not done: receipts and safe retries</a:t>
            </a:r>
            <a:endParaRPr lang="en-US" sz="2850" dirty="0"/>
          </a:p>
        </p:txBody>
      </p:sp>
      <p:sp>
        <p:nvSpPr>
          <p:cNvPr id="4" name="Receipt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decision = agent.check("tool", "mock:fs.read")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if not decision.allowed: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 PolicyViolation(decision)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result = external_tool()</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Exception: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agent.complete(decision, "failed")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agent.complete(decision, "succeeded")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outcome = reviewer.execute(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{"amount": 125,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idempotency_key="invoice-4471-payment")</a:t>
            </a:r>
            <a:endParaRPr lang="en-US" sz="1050" dirty="0"/>
          </a:p>
        </p:txBody>
      </p:sp>
      <p:sp>
        <p:nvSpPr>
          <p:cNvPr id="6" name="Callout receipt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Receipts</a:t>
            </a:r>
            <a:endParaRPr lang="en-US" sz="2850" dirty="0">
              <a:solidFill>
                <a:srgbClr val="00B0F0"/>
              </a:solidFill>
            </a:endParaRPr>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Tools report succeeded or failed;</a:t>
            </a:r>
            <a:endParaRPr lang="en-US" sz="1300" dirty="0"/>
          </a:p>
          <a:p>
            <a:pPr marL="0" indent="0">
              <a:buNone/>
            </a:pPr>
            <a:r>
              <a:rPr lang="en-US" sz="1300" dirty="0">
                <a:solidFill>
                  <a:schemeClr val="tx1"/>
                </a:solidFill>
              </a:rPr>
              <a:t>the dashboard counts both</a:t>
            </a:r>
            <a:endParaRPr lang="en-US" sz="1300" dirty="0"/>
          </a:p>
        </p:txBody>
      </p:sp>
      <p:sp>
        <p:nvSpPr>
          <p:cNvPr id="9" name="Callout retrie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rgbClr val="00B0F0"/>
                </a:solidFill>
              </a:rPr>
              <a:t>Retry-safe</a:t>
            </a:r>
            <a:endParaRPr lang="en-US" sz="2850" dirty="0">
              <a:solidFill>
                <a:srgbClr val="00B0F0"/>
              </a:solidFill>
            </a:endParaRPr>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Idempotency keys: a lost reply</a:t>
            </a:r>
            <a:endParaRPr lang="en-US" sz="1300" dirty="0"/>
          </a:p>
          <a:p>
            <a:pPr marL="0" indent="0">
              <a:buNone/>
            </a:pPr>
            <a:r>
              <a:rPr lang="en-US" sz="1300" dirty="0">
                <a:solidFill>
                  <a:schemeClr val="tx1"/>
                </a:solidFill>
              </a:rPr>
              <a:t>never pays twice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extLst>
              <p:ext uri="{D42A27DB-BD31-4B8C-83A1-F6EECF244321}">
                <p14:modId xmlns:p14="http://schemas.microsoft.com/office/powerpoint/2010/main" val="3094897041"/>
              </p:ext>
            </p:extLst>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rgbClr val="00B0F0"/>
                </a:solidFill>
              </a:rPr>
              <a:t>4,681</a:t>
            </a:r>
            <a:endParaRPr lang="en-US" sz="2850" dirty="0">
              <a:solidFill>
                <a:srgbClr val="00B0F0"/>
              </a:solidFill>
            </a:endParaRPr>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rgbClr val="00B0F0"/>
                </a:solidFill>
              </a:rPr>
              <a:t>44%</a:t>
            </a:r>
            <a:endParaRPr lang="en-US" sz="2850" dirty="0">
              <a:solidFill>
                <a:srgbClr val="00B0F0"/>
              </a:solidFill>
            </a:endParaRPr>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Known limits</a:t>
            </a:r>
            <a:endParaRPr lang="en-US" sz="1800" dirty="0">
              <a:solidFill>
                <a:srgbClr val="00B0F0"/>
              </a:solidFill>
            </a:endParaRPr>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Wrapped tools are cooperative; only engine-owned demo tools are unbypassable</a:t>
            </a:r>
            <a:endParaRPr lang="en-US" sz="1400" dirty="0"/>
          </a:p>
          <a:p>
            <a:pPr marL="177800" indent="-177800">
              <a:spcAft>
                <a:spcPts val="900"/>
              </a:spcAft>
              <a:buClr>
                <a:srgbClr val="00B0F0"/>
              </a:buClr>
              <a:buSzPct val="100000"/>
              <a:buChar char="•"/>
            </a:pPr>
            <a:r>
              <a:rPr lang="en-US" sz="1400" dirty="0">
                <a:solidFill>
                  <a:schemeClr val="tx1"/>
                </a:solidFill>
              </a:rPr>
              <a:t>No container or operating-system isolation</a:t>
            </a:r>
            <a:endParaRPr lang="en-US" sz="1400" dirty="0"/>
          </a:p>
          <a:p>
            <a:pPr marL="177800" indent="-177800">
              <a:spcAft>
                <a:spcPts val="900"/>
              </a:spcAft>
              <a:buClr>
                <a:srgbClr val="00B0F0"/>
              </a:buClr>
              <a:buSzPct val="100000"/>
              <a:buChar char="•"/>
            </a:pPr>
            <a:r>
              <a:rPr lang="en-US" sz="1400" dirty="0">
                <a:solidFill>
                  <a:schemeClr val="tx1"/>
                </a:solidFill>
              </a:rPr>
              <a:t>Real-agent runs instruct the model to probe the guard</a:t>
            </a:r>
            <a:endParaRPr lang="en-US" sz="1400" dirty="0"/>
          </a:p>
          <a:p>
            <a:pPr marL="177800" indent="-177800">
              <a:spcAft>
                <a:spcPts val="900"/>
              </a:spcAft>
              <a:buClr>
                <a:srgbClr val="00B0F0"/>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Next</a:t>
            </a:r>
            <a:endParaRPr lang="en-US" sz="1800" dirty="0">
              <a:solidFill>
                <a:srgbClr val="00B0F0"/>
              </a:solidFill>
            </a:endParaRPr>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MCP proxy so any tool sits behind the gateway</a:t>
            </a:r>
            <a:endParaRPr lang="en-US" sz="1400" dirty="0"/>
          </a:p>
          <a:p>
            <a:pPr marL="177800" indent="-177800">
              <a:spcAft>
                <a:spcPts val="900"/>
              </a:spcAft>
              <a:buClr>
                <a:srgbClr val="00B0F0"/>
              </a:buClr>
              <a:buSzPct val="100000"/>
              <a:buChar char="•"/>
            </a:pPr>
            <a:r>
              <a:rPr lang="en-US" sz="1400" dirty="0">
                <a:solidFill>
                  <a:schemeClr val="tx1"/>
                </a:solidFill>
              </a:rPr>
              <a:t>Container or separate-user isolation</a:t>
            </a:r>
            <a:endParaRPr lang="en-US" sz="1400" dirty="0"/>
          </a:p>
          <a:p>
            <a:pPr marL="177800" indent="-177800">
              <a:spcAft>
                <a:spcPts val="900"/>
              </a:spcAft>
              <a:buClr>
                <a:srgbClr val="00B0F0"/>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rgbClr val="00B0F0"/>
              </a:buClr>
              <a:buSzPct val="100000"/>
              <a:buChar char="•"/>
            </a:pPr>
            <a:r>
              <a:rPr lang="en-US" sz="1400" dirty="0">
                <a:solidFill>
                  <a:schemeClr val="tx1"/>
                </a:solidFill>
              </a:rPr>
              <a:t>Server-assigned policies beyond the demo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15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Try it yourself: six tabs, </a:t>
            </a:r>
            <a:r>
              <a:rPr lang="en-US" sz="2850" b="1">
                <a:solidFill>
                  <a:schemeClr val="tx1"/>
                </a:solidFill>
              </a:rPr>
              <a:t>ASP GW in </a:t>
            </a:r>
            <a:r>
              <a:rPr lang="en-US" sz="2850" b="1" dirty="0">
                <a:solidFill>
                  <a:schemeClr val="tx1"/>
                </a:solidFill>
              </a:rPr>
              <a:t>Action</a:t>
            </a:r>
            <a:endParaRPr lang="en-US" sz="2850" dirty="0"/>
          </a:p>
        </p:txBody>
      </p:sp>
      <p:sp>
        <p:nvSpPr>
          <p:cNvPr id="101" name="URL"/>
          <p:cNvSpPr txBox="1"/>
          <p:nvPr/>
        </p:nvSpPr>
        <p:spPr>
          <a:xfrm>
            <a:off x="566928" y="1170000"/>
            <a:ext cx="8010144" cy="400000"/>
          </a:xfrm>
          <a:prstGeom prst="rect">
            <a:avLst/>
          </a:prstGeom>
          <a:noFill/>
          <a:ln/>
        </p:spPr>
        <p:txBody>
          <a:bodyPr wrap="square" lIns="0" tIns="0" rIns="0" bIns="0" rtlCol="0" anchor="ctr"/>
          <a:lstStyle/>
          <a:p>
            <a:pPr marL="0" indent="0" algn="l">
              <a:spcBef>
                <a:spcPts val="0"/>
              </a:spcBef>
              <a:buNone/>
            </a:pPr>
            <a:r>
              <a:rPr lang="en-US" sz="1400" dirty="0">
                <a:solidFill>
                  <a:schemeClr val="tx2"/>
                </a:solidFill>
              </a:rPr>
              <a:t>Open  </a:t>
            </a:r>
            <a:r>
              <a:rPr lang="en-US" sz="2200" b="1" dirty="0">
                <a:solidFill>
                  <a:srgbClr val="00B0F0"/>
                </a:solidFill>
                <a:latin typeface="JetBrains Mono"/>
                <a:cs typeface="JetBrains Mono"/>
                <a:hlinkClick r:id="rId3">
                  <a:extLst>
                    <a:ext uri="{A12FA001-AC4F-418D-AE19-62706E023703}">
                      <ahyp:hlinkClr xmlns:ahyp="http://schemas.microsoft.com/office/drawing/2018/hyperlinkcolor" val="tx"/>
                    </a:ext>
                  </a:extLst>
                </a:hlinkClick>
              </a:rPr>
              <a:t>https://swarmsentinel.replit.app/</a:t>
            </a:r>
          </a:p>
        </p:txBody>
      </p:sp>
      <p:sp>
        <p:nvSpPr>
          <p:cNvPr id="102" name="Tab bar"/>
          <p:cNvSpPr/>
          <p:nvPr/>
        </p:nvSpPr>
        <p:spPr>
          <a:xfrm>
            <a:off x="566928" y="1720000"/>
            <a:ext cx="8010144" cy="440000"/>
          </a:xfrm>
          <a:prstGeom prst="rect">
            <a:avLst/>
          </a:prstGeom>
          <a:solidFill>
            <a:schemeClr val="bg2"/>
          </a:solidFill>
          <a:ln w="19050">
            <a:solidFill>
              <a:srgbClr val="00B0F0"/>
            </a:solidFill>
          </a:ln>
        </p:spPr>
        <p:txBody>
          <a:bodyPr/>
          <a:lstStyle/>
          <a:p>
            <a:endParaRPr lang="en-US"/>
          </a:p>
        </p:txBody>
      </p:sp>
      <p:sp>
        <p:nvSpPr>
          <p:cNvPr id="103" name="Active tab"/>
          <p:cNvSpPr/>
          <p:nvPr/>
        </p:nvSpPr>
        <p:spPr>
          <a:xfrm>
            <a:off x="612648" y="1774864"/>
            <a:ext cx="1243584" cy="330272"/>
          </a:xfrm>
          <a:prstGeom prst="rect">
            <a:avLst/>
          </a:prstGeom>
          <a:solidFill>
            <a:schemeClr val="accent1">
              <a:alpha val="18000"/>
            </a:schemeClr>
          </a:solidFill>
          <a:ln>
            <a:noFill/>
          </a:ln>
        </p:spPr>
        <p:txBody>
          <a:bodyPr/>
          <a:lstStyle/>
          <a:p>
            <a:endParaRPr lang="en-US"/>
          </a:p>
        </p:txBody>
      </p:sp>
      <p:sp>
        <p:nvSpPr>
          <p:cNvPr id="104" name="Tab Normal Run"/>
          <p:cNvSpPr txBox="1"/>
          <p:nvPr/>
        </p:nvSpPr>
        <p:spPr>
          <a:xfrm>
            <a:off x="566928"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b="1" dirty="0">
                <a:solidFill>
                  <a:schemeClr val="accent1"/>
                </a:solidFill>
              </a:rPr>
              <a:t>Normal Run</a:t>
            </a:r>
          </a:p>
        </p:txBody>
      </p:sp>
      <p:sp>
        <p:nvSpPr>
          <p:cNvPr id="105" name="Caption Normal Run"/>
          <p:cNvSpPr txBox="1"/>
          <p:nvPr/>
        </p:nvSpPr>
        <p:spPr>
          <a:xfrm>
            <a:off x="63093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Baseline</a:t>
            </a:r>
          </a:p>
          <a:p>
            <a:pPr marL="0" indent="0" algn="ctr">
              <a:spcBef>
                <a:spcPts val="400"/>
              </a:spcBef>
              <a:buNone/>
            </a:pPr>
            <a:r>
              <a:rPr lang="en-US" sz="1150" dirty="0">
                <a:solidFill>
                  <a:schemeClr val="tx1"/>
                </a:solidFill>
              </a:rPr>
              <a:t>Three agents, distinct tasks. No alerts.</a:t>
            </a:r>
          </a:p>
        </p:txBody>
      </p:sp>
      <p:sp>
        <p:nvSpPr>
          <p:cNvPr id="106" name="Tab Swarm Attack"/>
          <p:cNvSpPr txBox="1"/>
          <p:nvPr/>
        </p:nvSpPr>
        <p:spPr>
          <a:xfrm>
            <a:off x="1901952"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dirty="0">
                <a:solidFill>
                  <a:schemeClr val="tx1"/>
                </a:solidFill>
              </a:rPr>
              <a:t>Swarm Attack</a:t>
            </a:r>
          </a:p>
        </p:txBody>
      </p:sp>
      <p:sp>
        <p:nvSpPr>
          <p:cNvPr id="107" name="Caption Swarm Attack"/>
          <p:cNvSpPr txBox="1"/>
          <p:nvPr/>
        </p:nvSpPr>
        <p:spPr>
          <a:xfrm>
            <a:off x="1965960"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Tripwires</a:t>
            </a:r>
          </a:p>
          <a:p>
            <a:pPr marL="0" indent="0" algn="ctr">
              <a:spcBef>
                <a:spcPts val="400"/>
              </a:spcBef>
              <a:buNone/>
            </a:pPr>
            <a:r>
              <a:rPr lang="en-US" sz="1150" dirty="0">
                <a:solidFill>
                  <a:schemeClr val="tx1"/>
                </a:solidFill>
              </a:rPr>
              <a:t>Echoed answers and fan-out. Branches revoked.</a:t>
            </a:r>
          </a:p>
        </p:txBody>
      </p:sp>
      <p:sp>
        <p:nvSpPr>
          <p:cNvPr id="108" name="Tab Prompt Injection"/>
          <p:cNvSpPr txBox="1"/>
          <p:nvPr/>
        </p:nvSpPr>
        <p:spPr>
          <a:xfrm>
            <a:off x="3236976" y="1720000"/>
            <a:ext cx="1335024" cy="440000"/>
          </a:xfrm>
          <a:prstGeom prst="rect">
            <a:avLst/>
          </a:prstGeom>
          <a:noFill/>
          <a:ln>
            <a:solidFill>
              <a:srgbClr val="00B0F0"/>
            </a:solidFill>
          </a:ln>
        </p:spPr>
        <p:txBody>
          <a:bodyPr wrap="square" lIns="0" tIns="0" rIns="0" bIns="0" rtlCol="0" anchor="ctr"/>
          <a:lstStyle/>
          <a:p>
            <a:pPr marL="0" indent="0" algn="ctr">
              <a:spcBef>
                <a:spcPts val="0"/>
              </a:spcBef>
              <a:buNone/>
            </a:pPr>
            <a:r>
              <a:rPr lang="en-US" sz="1200" dirty="0">
                <a:solidFill>
                  <a:schemeClr val="tx1"/>
                </a:solidFill>
              </a:rPr>
              <a:t>Prompt Injection</a:t>
            </a:r>
          </a:p>
        </p:txBody>
      </p:sp>
      <p:sp>
        <p:nvSpPr>
          <p:cNvPr id="109" name="Caption Prompt Injection"/>
          <p:cNvSpPr txBox="1"/>
          <p:nvPr/>
        </p:nvSpPr>
        <p:spPr>
          <a:xfrm>
            <a:off x="3300984"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Taint</a:t>
            </a:r>
          </a:p>
          <a:p>
            <a:pPr marL="0" indent="0" algn="ctr">
              <a:spcBef>
                <a:spcPts val="400"/>
              </a:spcBef>
              <a:buNone/>
            </a:pPr>
            <a:r>
              <a:rPr lang="en-US" sz="1150" dirty="0">
                <a:solidFill>
                  <a:schemeClr val="tx1"/>
                </a:solidFill>
              </a:rPr>
              <a:t>Poisoned invoice asks for $5,000. Zero moves.</a:t>
            </a:r>
          </a:p>
        </p:txBody>
      </p:sp>
      <p:sp>
        <p:nvSpPr>
          <p:cNvPr id="110" name="Tab Runaway Loop"/>
          <p:cNvSpPr txBox="1"/>
          <p:nvPr/>
        </p:nvSpPr>
        <p:spPr>
          <a:xfrm>
            <a:off x="4572000"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Runaway Loop</a:t>
            </a:r>
          </a:p>
        </p:txBody>
      </p:sp>
      <p:sp>
        <p:nvSpPr>
          <p:cNvPr id="111" name="Caption Runaway Loop"/>
          <p:cNvSpPr txBox="1"/>
          <p:nvPr/>
        </p:nvSpPr>
        <p:spPr>
          <a:xfrm>
            <a:off x="4636008"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No attacker</a:t>
            </a:r>
          </a:p>
          <a:p>
            <a:pPr marL="0" indent="0" algn="ctr">
              <a:spcBef>
                <a:spcPts val="400"/>
              </a:spcBef>
              <a:buNone/>
            </a:pPr>
            <a:r>
              <a:rPr lang="en-US" sz="1150" dirty="0">
                <a:solidFill>
                  <a:schemeClr val="tx1"/>
                </a:solidFill>
              </a:rPr>
              <a:t>Loop that never converges, 22 retries. Throttled.</a:t>
            </a:r>
          </a:p>
        </p:txBody>
      </p:sp>
      <p:sp>
        <p:nvSpPr>
          <p:cNvPr id="112" name="Tab AI Village"/>
          <p:cNvSpPr txBox="1"/>
          <p:nvPr/>
        </p:nvSpPr>
        <p:spPr>
          <a:xfrm>
            <a:off x="5907024"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2"/>
                </a:solidFill>
              </a:rPr>
              <a:t>AI Village</a:t>
            </a:r>
          </a:p>
        </p:txBody>
      </p:sp>
      <p:sp>
        <p:nvSpPr>
          <p:cNvPr id="113" name="Caption AI Village"/>
          <p:cNvSpPr txBox="1"/>
          <p:nvPr/>
        </p:nvSpPr>
        <p:spPr>
          <a:xfrm>
            <a:off x="5971032"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chemeClr val="tx2"/>
                </a:solidFill>
              </a:rPr>
              <a:t>Real data</a:t>
            </a:r>
          </a:p>
          <a:p>
            <a:pPr marL="0" indent="0" algn="ctr">
              <a:spcBef>
                <a:spcPts val="400"/>
              </a:spcBef>
              <a:buNone/>
            </a:pPr>
            <a:r>
              <a:rPr lang="en-US" sz="1150" dirty="0">
                <a:solidFill>
                  <a:schemeClr val="tx1"/>
                </a:solidFill>
              </a:rPr>
              <a:t>Report-only replay. Approved accounts only.</a:t>
            </a:r>
          </a:p>
        </p:txBody>
      </p:sp>
      <p:sp>
        <p:nvSpPr>
          <p:cNvPr id="114" name="Tab Live"/>
          <p:cNvSpPr txBox="1"/>
          <p:nvPr/>
        </p:nvSpPr>
        <p:spPr>
          <a:xfrm>
            <a:off x="7242048" y="1720000"/>
            <a:ext cx="1335024" cy="440000"/>
          </a:xfrm>
          <a:prstGeom prst="rect">
            <a:avLst/>
          </a:prstGeom>
          <a:noFill/>
          <a:ln/>
        </p:spPr>
        <p:txBody>
          <a:bodyPr wrap="square" lIns="0" tIns="0" rIns="0" bIns="0" rtlCol="0" anchor="ctr"/>
          <a:lstStyle/>
          <a:p>
            <a:pPr marL="0" indent="0" algn="ctr">
              <a:spcBef>
                <a:spcPts val="0"/>
              </a:spcBef>
              <a:buNone/>
            </a:pPr>
            <a:r>
              <a:rPr lang="en-US" sz="1200" dirty="0">
                <a:solidFill>
                  <a:schemeClr val="tx1"/>
                </a:solidFill>
              </a:rPr>
              <a:t>Live</a:t>
            </a:r>
          </a:p>
        </p:txBody>
      </p:sp>
      <p:sp>
        <p:nvSpPr>
          <p:cNvPr id="115" name="Caption Live"/>
          <p:cNvSpPr txBox="1"/>
          <p:nvPr/>
        </p:nvSpPr>
        <p:spPr>
          <a:xfrm>
            <a:off x="7306056" y="2350000"/>
            <a:ext cx="1207008" cy="1500000"/>
          </a:xfrm>
          <a:prstGeom prst="rect">
            <a:avLst/>
          </a:prstGeom>
          <a:noFill/>
          <a:ln/>
        </p:spPr>
        <p:txBody>
          <a:bodyPr wrap="square" lIns="0" tIns="0" rIns="0" bIns="0" rtlCol="0" anchor="t"/>
          <a:lstStyle/>
          <a:p>
            <a:pPr marL="0" indent="0" algn="ctr">
              <a:spcBef>
                <a:spcPts val="0"/>
              </a:spcBef>
              <a:buNone/>
            </a:pPr>
            <a:r>
              <a:rPr lang="en-US" sz="1200" b="1" dirty="0">
                <a:solidFill>
                  <a:srgbClr val="00B0F0"/>
                </a:solidFill>
              </a:rPr>
              <a:t>Real agents</a:t>
            </a:r>
          </a:p>
          <a:p>
            <a:pPr marL="0" indent="0" algn="ctr">
              <a:spcBef>
                <a:spcPts val="400"/>
              </a:spcBef>
              <a:buNone/>
            </a:pPr>
            <a:r>
              <a:rPr lang="en-US" sz="1150" dirty="0">
                <a:solidFill>
                  <a:schemeClr val="tx1"/>
                </a:solidFill>
              </a:rPr>
              <a:t>Decisions stream in as they happen.</a:t>
            </a:r>
          </a:p>
        </p:txBody>
      </p:sp>
      <p:sp>
        <p:nvSpPr>
          <p:cNvPr id="116" name="Footnote"/>
          <p:cNvSpPr txBox="1"/>
          <p:nvPr/>
        </p:nvSpPr>
        <p:spPr>
          <a:xfrm>
            <a:off x="566928" y="3800000"/>
            <a:ext cx="8010144" cy="420000"/>
          </a:xfrm>
          <a:prstGeom prst="rect">
            <a:avLst/>
          </a:prstGeom>
          <a:noFill/>
          <a:ln/>
        </p:spPr>
        <p:txBody>
          <a:bodyPr wrap="square" lIns="0" tIns="0" rIns="0" bIns="0" rtlCol="0" anchor="b"/>
          <a:lstStyle/>
          <a:p>
            <a:pPr marL="0" indent="0" algn="l">
              <a:spcBef>
                <a:spcPts val="0"/>
              </a:spcBef>
              <a:buNone/>
            </a:pPr>
            <a:r>
              <a:rPr lang="en-US" sz="1150" dirty="0">
                <a:solidFill>
                  <a:schemeClr val="tx2"/>
                </a:solidFill>
              </a:rPr>
              <a:t>Synthetic tabs run the gateway in enforce mode. AI Village is dimmed unless your account is approved; judges can rebuild it locally (docs/JUDGES.md).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16 / 16</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rgbClr val="00B0F0"/>
                </a:solidFill>
              </a:rPr>
              <a:t>Prasad MK</a:t>
            </a:r>
            <a:endParaRPr lang="en-US" sz="2200" dirty="0">
              <a:solidFill>
                <a:srgbClr val="00B0F0"/>
              </a:solidFill>
            </a:endParaRPr>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Judges</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For judges: replay the real data yourself</a:t>
            </a:r>
            <a:endParaRPr lang="en-US" sz="2850" dirty="0"/>
          </a:p>
        </p:txBody>
      </p:sp>
      <p:sp>
        <p:nvSpPr>
          <p:cNvPr id="4" name="Build card"/>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Build your own store</a:t>
            </a:r>
            <a:endParaRPr lang="en-US" sz="1800" dirty="0">
              <a:solidFill>
                <a:srgbClr val="00B0F0"/>
              </a:solidFill>
            </a:endParaRPr>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Request access on Hugging Face: aidigestorg/ai-village</a:t>
            </a:r>
            <a:endParaRPr lang="en-US" sz="1400" dirty="0"/>
          </a:p>
          <a:p>
            <a:pPr marL="177800" indent="-177800">
              <a:spcAft>
                <a:spcPts val="900"/>
              </a:spcAft>
              <a:buClr>
                <a:srgbClr val="00B0F0"/>
              </a:buClr>
              <a:buSzPct val="100000"/>
              <a:buChar char="•"/>
            </a:pPr>
            <a:r>
              <a:rPr lang="en-US" sz="1400" dirty="0">
                <a:solidFill>
                  <a:schemeClr val="tx1"/>
                </a:solidFill>
              </a:rPr>
              <a:t>Download the 7 tables with hf download (docs/JUDGES.md)</a:t>
            </a:r>
            <a:endParaRPr lang="en-US" sz="1400" dirty="0"/>
          </a:p>
          <a:p>
            <a:pPr marL="177800" indent="-177800">
              <a:spcAft>
                <a:spcPts val="900"/>
              </a:spcAft>
              <a:buClr>
                <a:srgbClr val="00B0F0"/>
              </a:buClr>
              <a:buSzPct val="100000"/>
              <a:buChar char="•"/>
            </a:pPr>
            <a:r>
              <a:rPr lang="en-US" sz="1400" dirty="0">
                <a:solidFill>
                  <a:schemeClr val="tx1"/>
                </a:solidFill>
              </a:rPr>
              <a:t>python -m village.ingest, then village.scan (about 10 min)</a:t>
            </a:r>
            <a:endParaRPr lang="en-US" sz="1400" dirty="0"/>
          </a:p>
          <a:p>
            <a:pPr marL="177800" indent="-177800">
              <a:spcAft>
                <a:spcPts val="900"/>
              </a:spcAft>
              <a:buClr>
                <a:srgbClr val="00B0F0"/>
              </a:buClr>
              <a:buSzPct val="100000"/>
              <a:buChar char="•"/>
            </a:pPr>
            <a:r>
              <a:rPr lang="en-US" sz="1400" dirty="0">
                <a:solidFill>
                  <a:schemeClr val="tx1"/>
                </a:solidFill>
              </a:rPr>
              <a:t>Stays local: data/ai-village/ is gitignored</a:t>
            </a:r>
            <a:endParaRPr lang="en-US" sz="1400" dirty="0"/>
          </a:p>
        </p:txBody>
      </p:sp>
      <p:sp>
        <p:nvSpPr>
          <p:cNvPr id="7" name="View card"/>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rgbClr val="00B0F0"/>
                </a:solidFill>
              </a:rPr>
              <a:t>View the results</a:t>
            </a:r>
            <a:endParaRPr lang="en-US" sz="1800" dirty="0">
              <a:solidFill>
                <a:srgbClr val="00B0F0"/>
              </a:solidFill>
            </a:endParaRPr>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rgbClr val="00B0F0"/>
              </a:buClr>
              <a:buSzPct val="100000"/>
              <a:buChar char="•"/>
            </a:pPr>
            <a:r>
              <a:rPr lang="en-US" sz="1400" dirty="0">
                <a:solidFill>
                  <a:schemeClr val="tx1"/>
                </a:solidFill>
              </a:rPr>
              <a:t>python -m village.replay --list</a:t>
            </a:r>
            <a:endParaRPr lang="en-US" sz="1400" dirty="0"/>
          </a:p>
          <a:p>
            <a:pPr marL="177800" indent="-177800">
              <a:spcAft>
                <a:spcPts val="900"/>
              </a:spcAft>
              <a:buClr>
                <a:srgbClr val="00B0F0"/>
              </a:buClr>
              <a:buSzPct val="100000"/>
              <a:buChar char="•"/>
            </a:pPr>
            <a:r>
              <a:rPr lang="en-US" sz="1400" dirty="0">
                <a:solidFill>
                  <a:schemeClr val="tx1"/>
                </a:solidFill>
              </a:rPr>
              <a:t>python -m village.replay --episode &lt;id&gt;</a:t>
            </a:r>
            <a:endParaRPr lang="en-US" sz="1400" dirty="0"/>
          </a:p>
          <a:p>
            <a:pPr marL="177800" indent="-177800">
              <a:spcAft>
                <a:spcPts val="900"/>
              </a:spcAft>
              <a:buClr>
                <a:srgbClr val="00B0F0"/>
              </a:buClr>
              <a:buSzPct val="100000"/>
              <a:buChar char="•"/>
            </a:pPr>
            <a:r>
              <a:rPr lang="en-US" sz="1400" dirty="0">
                <a:solidFill>
                  <a:schemeClr val="tx1"/>
                </a:solidFill>
              </a:rPr>
              <a:t>Optional dashboard: Clerk dev app, your user ID in SWARM_VILLAGE_READERS</a:t>
            </a:r>
            <a:endParaRPr lang="en-US" sz="1400" dirty="0"/>
          </a:p>
          <a:p>
            <a:pPr marL="177800" indent="-177800">
              <a:spcAft>
                <a:spcPts val="900"/>
              </a:spcAft>
              <a:buClr>
                <a:srgbClr val="00B0F0"/>
              </a:buClr>
              <a:buSzPct val="100000"/>
              <a:buChar char="•"/>
            </a:pPr>
            <a:r>
              <a:rPr lang="en-US" sz="1400" dirty="0">
                <a:solidFill>
                  <a:schemeClr val="tx1"/>
                </a:solidFill>
              </a:rPr>
              <a:t>Results are counterfactual; please cite AI Digest</a:t>
            </a:r>
            <a:endParaRPr lang="en-US" sz="140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67</TotalTime>
  <Words>4216</Words>
  <Application>Microsoft Macintosh PowerPoint</Application>
  <PresentationFormat>On-screen Show (16:9)</PresentationFormat>
  <Paragraphs>379</Paragraphs>
  <Slides>17</Slides>
  <Notes>17</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Allowed is not done: receipts and safe retries</vt:lpstr>
      <vt:lpstr>Evidence: 1.23M real agent actions, replayed</vt:lpstr>
      <vt:lpstr>Boundaries and what comes next</vt:lpstr>
      <vt:lpstr>Try it yourself: six tabs, ASP GW in Action</vt:lpstr>
      <vt:lpstr>Read the paper, try the code</vt:lpstr>
      <vt:lpstr>For judges: replay the real data yourself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12</cp:revision>
  <dcterms:created xsi:type="dcterms:W3CDTF">2026-10-04T08:01:16Z</dcterms:created>
  <dcterms:modified xsi:type="dcterms:W3CDTF">2026-10-04T19:21:08Z</dcterms:modified>
</cp:coreProperties>
</file>
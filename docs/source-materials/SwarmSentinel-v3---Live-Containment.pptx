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67"/>
          </p14:sldIdLst>
        </p14:section>
        <p14:section name="Close" id="{BF105172-580D-460C-31F3-30A48CA27F5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3"/>
    <p:restoredTop sz="94610"/>
  </p:normalViewPr>
  <p:slideViewPr>
    <p:cSldViewPr snapToGrid="0" snapToObjects="1">
      <p:cViewPr varScale="1">
        <p:scale>
          <a:sx n="188" d="100"/>
          <a:sy n="188"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29BC86"/>
            </a:solidFill>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is a standard-library Python file. Wrap a tool with a decorator or call through the guard; a denied call raises instead of running. The guard also tracks which agent spawned which, and the gateway verifies it, so an agent cannot claim a parent it never had. Overhead: we measured five thousand calls from twenty agents running full gateway and Sentinel checks. Median 0.024 milliseconds in-process, 0.39 over HTTP on localhost, on an Apple M2. That is small next to any LLM call. One honest caveat: for tools you wrap yourself, this is cooperative; an agent that skips the guard is not stopped. For the four demo tools, the engine owns the tool bodies and only runs them after the gateway allows the call, so there is nothing to skip. Extending that to any tool is the MCP proxy on the roadmap.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not, yet. Tools you wrap with our guard are cooperative: an agent that calls them directly is not stopped. Only the four engine-owned demo tools are truly behind the gateway. There is no container or operating-system isolation, so this is not yet the tamper-proof reference monitor the paper describes. In the real-agent runs, the models are instructed to probe the guard, so those runs prove the guard holds, not that a model was fooled spontaneously. And thresholds were tuned on one dataset. The roadmap answers each: an MCP proxy so every tool sits behind the gateway, process or container isolation, taint that travels through shared files, and server-assigned policies beyond the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14</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chemeClr val="accent1"/>
                </a:solidFill>
              </a:rPr>
              <a:t>AI Swarm Dynamics Hackathon · AI Village</a:t>
            </a:r>
            <a:endParaRPr lang="en-US" sz="1800" dirty="0"/>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chemeClr val="accent1"/>
                </a:solidFill>
              </a:rPr>
              <a:t>Prasad MK</a:t>
            </a:r>
            <a:endParaRPr lang="en-US" sz="1600" dirty="0"/>
          </a:p>
        </p:txBody>
      </p:sp>
      <p:sp>
        <p:nvSpPr>
          <p:cNvPr id="7" name="Paper DOI">
            <a:hlinkClick r:id="rId3" tooltip="Agent Security Policy (ASP) preprint on SSRN"/>
          </p:cNvPr>
          <p:cNvSpPr txBox="1"/>
          <p:nvPr/>
        </p:nvSpPr>
        <p:spPr>
          <a:xfrm>
            <a:off x="566928" y="4389120"/>
            <a:ext cx="6309360" cy="274320"/>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dirty="0"/>
          </a:p>
        </p:txBody>
      </p:sp>
      <p:pic>
        <p:nvPicPr>
          <p:cNvPr id="8" name="ASP preprint QR code" descr="QR code linking to the ASP preprint on SSRN (DOI 10.2139/ssrn.6876926)"/>
          <p:cNvPicPr>
            <a:picLocks noChangeAspect="1"/>
          </p:cNvPicPr>
          <p:nvPr/>
        </p:nvPicPr>
        <p:blipFill>
          <a:blip r:embed="rId4"/>
          <a:stretch>
            <a:fillRect/>
          </a:stretch>
        </p:blipFill>
        <p:spPr>
          <a:xfrm>
            <a:off x="7415784" y="1417320"/>
            <a:ext cx="1408176" cy="1408176"/>
          </a:xfrm>
          <a:prstGeom prst="rect">
            <a:avLst/>
          </a:prstGeom>
        </p:spPr>
      </p:pic>
      <p:sp>
        <p:nvSpPr>
          <p:cNvPr id="9" name="Text 6"/>
          <p:cNvSpPr txBox="1"/>
          <p:nvPr/>
        </p:nvSpPr>
        <p:spPr>
          <a:xfrm>
            <a:off x="7187184" y="2907792"/>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87184" y="3163824"/>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01</a:t>
            </a:r>
            <a:endParaRPr lang="en-US" sz="2850" dirty="0"/>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02</a:t>
            </a:r>
            <a:endParaRPr lang="en-US" sz="2850" dirty="0"/>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03</a:t>
            </a:r>
            <a:endParaRPr lang="en-US" sz="2850" dirty="0"/>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04</a:t>
            </a:r>
            <a:endParaRPr lang="en-US" sz="2850" dirty="0"/>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chemeClr val="accent1"/>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chemeClr val="accent1"/>
                </a:solidFill>
              </a:rPr>
              <a:t>ASP enforcement gateway</a:t>
            </a:r>
            <a:endParaRPr lang="en-US" sz="1350" dirty="0"/>
          </a:p>
          <a:p>
            <a:pPr marL="0" indent="0" algn="ctr">
              <a:buNone/>
            </a:pPr>
            <a:r>
              <a:rPr lang="en-US" sz="1100" dirty="0">
                <a:solidFill>
                  <a:schemeClr val="tx1"/>
                </a:solidFill>
              </a:rPr>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01</a:t>
            </a:r>
            <a:endParaRPr lang="en-US" sz="2400" dirty="0"/>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02</a:t>
            </a:r>
            <a:endParaRPr lang="en-US" sz="2400" dirty="0"/>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03</a:t>
            </a:r>
            <a:endParaRPr lang="en-US" sz="2400" dirty="0"/>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Authenticated sessions; demo tools run only inside the engine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chemeClr val="accent1"/>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chemeClr val="accent1"/>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chemeClr val="accent1"/>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1</a:t>
            </a:r>
            <a:endParaRPr lang="en-US" sz="1300" dirty="0"/>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2</a:t>
            </a:r>
            <a:endParaRPr lang="en-US" sz="1300" dirty="0"/>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3</a:t>
            </a:r>
            <a:endParaRPr lang="en-US" sz="1300" dirty="0"/>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4</a:t>
            </a:r>
            <a:endParaRPr lang="en-US" sz="1300" dirty="0"/>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5</a:t>
            </a:r>
            <a:endParaRPr lang="en-US" sz="1300" dirty="0"/>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6</a:t>
            </a:r>
            <a:endParaRPr lang="en-US" sz="1300" dirty="0"/>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7</a:t>
            </a:r>
            <a:endParaRPr lang="en-US" sz="1300" dirty="0"/>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8</a:t>
            </a:r>
            <a:endParaRPr lang="en-US" sz="1300" dirty="0"/>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9</a:t>
            </a:r>
            <a:endParaRPr lang="en-US" sz="1300" dirty="0"/>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1</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2</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3</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5</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6</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Launch the attack from the browser</a:t>
            </a:r>
            <a:endParaRPr lang="en-US" sz="1400" dirty="0"/>
          </a:p>
          <a:p>
            <a:pPr marL="177800" indent="-177800">
              <a:spcAft>
                <a:spcPts val="1000"/>
              </a:spcAft>
              <a:buClr>
                <a:schemeClr val="accent1"/>
              </a:buClr>
              <a:buSzPct val="100000"/>
              <a:buChar char="•"/>
            </a:pPr>
            <a:r>
              <a:rPr lang="en-US" sz="1400" dirty="0">
                <a:solidFill>
                  <a:schemeClr val="tx1"/>
                </a:solidFill>
              </a:rPr>
              <a:t>Decisions arrive as they happen</a:t>
            </a:r>
            <a:endParaRPr lang="en-US" sz="1400" dirty="0"/>
          </a:p>
          <a:p>
            <a:pPr marL="177800" indent="-177800">
              <a:spcAft>
                <a:spcPts val="1000"/>
              </a:spcAft>
              <a:buClr>
                <a:schemeClr val="accent1"/>
              </a:buClr>
              <a:buSzPct val="100000"/>
              <a:buChar char="•"/>
            </a:pPr>
            <a:r>
              <a:rPr lang="en-US" sz="1400" dirty="0">
                <a:solidFill>
                  <a:schemeClr val="tx1"/>
                </a:solidFill>
              </a:rPr>
              <a:t>Tainted, dropped and revoked, live</a:t>
            </a:r>
            <a:endParaRPr lang="en-US" sz="1400" dirty="0"/>
          </a:p>
          <a:p>
            <a:pPr marL="177800" indent="-177800">
              <a:spcAft>
                <a:spcPts val="1000"/>
              </a:spcAft>
              <a:buClr>
                <a:schemeClr val="accent1"/>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chemeClr val="accent1"/>
              </a:buClr>
              <a:buSzPct val="100000"/>
              <a:buChar char="•"/>
            </a:pPr>
            <a:r>
              <a:rPr lang="en-US" sz="1400" dirty="0">
                <a:solidFill>
                  <a:schemeClr val="tx1"/>
                </a:solidFill>
              </a:rPr>
              <a:t>Loop members revoked</a:t>
            </a:r>
            <a:endParaRPr lang="en-US" sz="1400" dirty="0"/>
          </a:p>
          <a:p>
            <a:pPr marL="177800" indent="-177800">
              <a:spcAft>
                <a:spcPts val="1000"/>
              </a:spcAft>
              <a:buClr>
                <a:schemeClr val="accent1"/>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chemeClr val="accent1"/>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0.024 ms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0.39 ms</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4,681</a:t>
            </a:r>
            <a:endParaRPr lang="en-US" sz="2850" dirty="0"/>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44%</a:t>
            </a:r>
            <a:endParaRPr lang="en-US" sz="2850" dirty="0"/>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Known limits</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Wrapped tools are cooperative; only engine-owned demo tools are unbypassable</a:t>
            </a:r>
            <a:endParaRPr lang="en-US" sz="1400" dirty="0"/>
          </a:p>
          <a:p>
            <a:pPr marL="177800" indent="-177800">
              <a:spcAft>
                <a:spcPts val="900"/>
              </a:spcAft>
              <a:buClr>
                <a:schemeClr val="accent1"/>
              </a:buClr>
              <a:buSzPct val="100000"/>
              <a:buChar char="•"/>
            </a:pPr>
            <a:r>
              <a:rPr lang="en-US" sz="1400" dirty="0">
                <a:solidFill>
                  <a:schemeClr val="tx1"/>
                </a:solidFill>
              </a:rPr>
              <a:t>No container or operating-system isolation</a:t>
            </a:r>
            <a:endParaRPr lang="en-US" sz="1400" dirty="0"/>
          </a:p>
          <a:p>
            <a:pPr marL="177800" indent="-177800">
              <a:spcAft>
                <a:spcPts val="900"/>
              </a:spcAft>
              <a:buClr>
                <a:schemeClr val="accent1"/>
              </a:buClr>
              <a:buSzPct val="100000"/>
              <a:buChar char="•"/>
            </a:pPr>
            <a:r>
              <a:rPr lang="en-US" sz="1400" dirty="0">
                <a:solidFill>
                  <a:schemeClr val="tx1"/>
                </a:solidFill>
              </a:rPr>
              <a:t>Real-agent runs instruct the model to probe the guard</a:t>
            </a:r>
            <a:endParaRPr lang="en-US" sz="1400" dirty="0"/>
          </a:p>
          <a:p>
            <a:pPr marL="177800" indent="-177800">
              <a:spcAft>
                <a:spcPts val="900"/>
              </a:spcAft>
              <a:buClr>
                <a:schemeClr val="accent1"/>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Next</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MCP proxy so any tool sits behind the gateway</a:t>
            </a:r>
            <a:endParaRPr lang="en-US" sz="1400" dirty="0"/>
          </a:p>
          <a:p>
            <a:pPr marL="177800" indent="-177800">
              <a:spcAft>
                <a:spcPts val="900"/>
              </a:spcAft>
              <a:buClr>
                <a:schemeClr val="accent1"/>
              </a:buClr>
              <a:buSzPct val="100000"/>
              <a:buChar char="•"/>
            </a:pPr>
            <a:r>
              <a:rPr lang="en-US" sz="1400" dirty="0">
                <a:solidFill>
                  <a:schemeClr val="tx1"/>
                </a:solidFill>
              </a:rPr>
              <a:t>Container or separate-user isolation</a:t>
            </a:r>
            <a:endParaRPr lang="en-US" sz="1400" dirty="0"/>
          </a:p>
          <a:p>
            <a:pPr marL="177800" indent="-177800">
              <a:spcAft>
                <a:spcPts val="900"/>
              </a:spcAft>
              <a:buClr>
                <a:schemeClr val="accent1"/>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chemeClr val="accent1"/>
              </a:buClr>
              <a:buSzPct val="100000"/>
              <a:buChar char="•"/>
            </a:pPr>
            <a:r>
              <a:rPr lang="en-US" sz="1400" dirty="0">
                <a:solidFill>
                  <a:schemeClr val="tx1"/>
                </a:solidFill>
              </a:rPr>
              <a:t>Server-assigned policies beyond the demo</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chemeClr val="accent1"/>
                </a:solidFill>
              </a:rPr>
              <a:t>Prasad MK</a:t>
            </a:r>
            <a:endParaRPr lang="en-US" sz="2200" dirty="0"/>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3048</Words>
  <Application>Microsoft Macintosh PowerPoint</Application>
  <PresentationFormat>On-screen Show (16:9)</PresentationFormat>
  <Paragraphs>253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Evidence: 1.23M real agent actions, replayed</vt:lpstr>
      <vt:lpstr>Boundaries and what comes next</vt:lpstr>
      <vt:lpstr>Read the paper, try the code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3</cp:revision>
  <dcterms:created xsi:type="dcterms:W3CDTF">2026-10-04T08:01:16Z</dcterms:created>
  <dcterms:modified xsi:type="dcterms:W3CDTF">2026-10-04T08:18:19Z</dcterms:modified>
</cp:coreProperties>
</file>
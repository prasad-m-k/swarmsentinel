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a2ce950-ce6d-ac07-2462-6516a77a7dd3}">
          <p14:sldIdLst>
            <p14:sldId id="256"/>
            <p14:sldId id="257"/>
          </p14:sldIdLst>
        </p14:section>
        <p14:section name="Design" id="{d0b6b375-ade2-17c4-c94f-cb7cf012c052}">
          <p14:sldIdLst>
            <p14:sldId id="258"/>
            <p14:sldId id="259"/>
            <p14:sldId id="260"/>
          </p14:sldIdLst>
        </p14:section>
        <p14:section name="Demonstration" id="{10688a4f-ad13-292b-52e1-e5c8af41a728}">
          <p14:sldIdLst>
            <p14:sldId id="261"/>
            <p14:sldId id="262"/>
            <p14:sldId id="263"/>
            <p14:sldId id="264"/>
          </p14:sldIdLst>
        </p14:section>
        <p14:section name="Integration and evidence" id="{7c8aaab1-1b72-e8e7-42ec-44ef0c5e68e2}">
          <p14:sldIdLst>
            <p14:sldId id="265"/>
            <p14:sldId id="266"/>
          </p14:sldIdLst>
        </p14:section>
        <p14:section name="Close" id="{845fe6eb-bb99-ac67-e330-e65182baf6a4}">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919DAC"/>
                </a:solidFill>
                <a:latin typeface="+mn-lt"/>
              </a:defRPr>
            </a:pPr>
            <a:r>
              <a:rPr sz="1200" b="0" i="0" u="none" strike="noStrike">
                <a:solidFill>
                  <a:srgbClr val="919DAC"/>
                </a:solidFill>
                <a:latin typeface="+mn-lt"/>
              </a:rPr>
              <a:t>Would-block decisions by rule (counterfactual)</a:t>
            </a:r>
          </a:p>
        </c:rich>
      </c:tx>
      <c:layout/>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29BC86"/>
            </a:solidFill>
            <a:effectLst/>
          </c:spPr>
          <c:invertIfNegative val="0"/>
          <c:dLbls>
            <c:numFmt formatCode="#,##0" sourceLinked="0"/>
            <c:txPr>
              <a:bodyPr/>
              <a:lstStyle/>
              <a:p>
                <a:pPr>
                  <a:defRPr b="0" i="0" strike="noStrike" sz="1200" u="none">
                    <a:solidFill>
                      <a:srgbClr val="E0E6EB"/>
                    </a:solidFill>
                    <a:latin typeface="+mn-lt"/>
                  </a:defRPr>
                </a:pPr>
              </a:p>
            </c:txPr>
            <c:showLegendKey val="0"/>
            <c:showVal val="1"/>
            <c:showCatName val="0"/>
            <c:showSerName val="0"/>
            <c:showPercent val="0"/>
            <c:showBubbleSize val="0"/>
            <c:showLeaderLines val="0"/>
          </c:dLbls>
          <c:cat>
            <c:multiLvlStrRef>
              <c:f>Sheet1!$A$2:$A$5</c:f>
              <c:multiLvlStrCache>
                <c:ptCount val="4"/>
                <c:lvl>
                  <c:pt idx="0">
                    <c:v>Network outside allowlist</c:v>
                  </c:pt>
                  <c:pt idx="1">
                    <c:v>Argument constraints</c:v>
                  </c:pt>
                  <c:pt idx="2">
                    <c:v>Write cap, shared resource</c:v>
                  </c:pt>
                  <c:pt idx="3">
                    <c:v>Repeated identical intent</c:v>
                  </c:pt>
                </c:lvl>
              </c:multiLvlStrCache>
            </c:multiLvlStrRef>
          </c:cat>
          <c:val>
            <c:numRef>
              <c:f>Sheet1!$B$2:$B$5</c:f>
              <c:numCache>
                <c:formatCode>General</c:formatCode>
                <c:ptCount val="4"/>
                <c:pt idx="0">
                  <c:v>86206</c:v>
                </c:pt>
                <c:pt idx="1">
                  <c:v>5512</c:v>
                </c:pt>
                <c:pt idx="2">
                  <c:v>4010</c:v>
                </c:pt>
                <c:pt idx="3">
                  <c:v>1744</c:v>
                </c:pt>
              </c:numCache>
            </c:numRef>
          </c:val>
        </c:ser>
        <c:dLbls>
          <c:numFmt formatCode="#,##0" sourceLinked="0"/>
          <c:txPr>
            <a:bodyPr/>
            <a:lstStyle/>
            <a:p>
              <a:pPr>
                <a:defRPr b="0" i="0" strike="noStrike" sz="1200" u="none">
                  <a:solidFill>
                    <a:srgbClr val="E0E6E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noMultiLvlLbl val="1"/>
      </c:catAx>
      <c:valAx>
        <c:axId val="2094734552"/>
        <c:scaling>
          <c:orientation val="minMax"/>
          <c:max val="11000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919DAC"/>
                </a:solidFill>
                <a:latin typeface="+mn-lt"/>
              </a:defRPr>
            </a:pPr>
            <a:endParaRPr lang="en-US"/>
          </a:p>
        </c:txPr>
        <c:crossAx val="2094734554"/>
        <c:crosses val="autoZero"/>
        <c:crossBetween val="between"/>
      </c:valAx>
      <c:spPr>
        <a:solidFill>
          <a:srgbClr val="121821"/>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enforcement belongs in a layer the model cannot reach, and policy belongs in a format infrastructure can read. In the next few minutes: the threats, how the layer works, a live attack, and what it found on 1.2 million real agent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in remote mode the gateway runs in its own engine process, out of the agents' reach, but its API has no authentication yet, so a misbehaving agent could end its session or open one with a looser policy. The full document lists the evidence for every row and six known gaps. I would rather show you the edges than claim coverage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attack from my paper. An orchestrator delegates invoice parsing to a sub-agent that may only read files. The invoice contains an instruction to transfer five thousand dollars. The agents here are scripted to obey it, standing in for a model that has been successfully injected.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is a standard-library Python file. Wrap a tool with a decorator or call through the guard; a denied call raises instead of running. The guard also tracks which agent spawned which, and the gateway verifies it, so an agent cannot claim a parent it never had. Overhead: we measured five thousand calls from twenty agents running full gateway and Sentinel checks. Median 0.024 milliseconds in-process, 0.39 over HTTP on localhost, on an Apple M2. That is small next to any LLM call. One honest caveat: this is cooperative. An agent that skips the guard is not stopped; the next step is a proxy in front of the tools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is not, yet. Interception is cooperative: it protects agents that call tools through the guard. The demo agents are scripted to follow the injection rather than being live models. The gateway runs in its own process, separate from the agents, but its API is not authenticated yet, so it is not the tamper-proof reference monitor the paper describes. And thresholds were tuned on one dataset. The roadmap answers each: an MCP proxy so tools are only reachable through the gateway, a real LLM agent behind the guard, taint that travels through shared files, and authenticated sessions where the server, not the agent, assigns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sp>
      <p:sp>
        <p:nvSpPr>
          <p:cNvPr id="3" name="Shape 1"/>
          <p:cNvSpPr/>
          <p:nvPr/>
        </p:nvSpPr>
        <p:spPr>
          <a:xfrm>
            <a:off x="566928" y="4828032"/>
            <a:ext cx="8001000" cy="9144"/>
          </a:xfrm>
          <a:prstGeom prst="rect">
            <a:avLst/>
          </a:prstGeom>
          <a:solidFill>
            <a:schemeClr val="accent2"/>
          </a:solidFill>
          <a:ln/>
        </p:spPr>
      </p:sp>
      <p:sp>
        <p:nvSpPr>
          <p:cNvPr id="4" name="Text 2"/>
          <p:cNvSpPr/>
          <p:nvPr/>
        </p:nvSpPr>
        <p:spPr>
          <a:xfrm>
            <a:off x="566928" y="4864608"/>
            <a:ext cx="2286000" cy="219456"/>
          </a:xfrm>
          <a:prstGeom prst="rect">
            <a:avLst/>
          </a:prstGeom>
          <a:noFill/>
          <a:ln/>
        </p:spPr>
        <p:txBody>
          <a:bodyPr wrap="square" lIns="0" tIns="0" rIns="0" bIns="0" rtlCol="0" anchor="ctr"/>
          <a:lstStyle/>
          <a:p>
            <a:pPr indent="0" marL="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sp>
      <p:sp>
        <p:nvSpPr>
          <p:cNvPr id="6" name="Text 4"/>
          <p:cNvSpPr/>
          <p:nvPr>
            <p:ph idx="104" type="title" hasCustomPrompt="1"/>
          </p:nvPr>
        </p:nvSpPr>
        <p:spPr>
          <a:xfrm>
            <a:off x="566928" y="1325880"/>
            <a:ext cx="6309360" cy="86868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7" name="Text 4"/>
          <p:cNvSpPr/>
          <p:nvPr>
            <p:ph idx="105" type="body" hasCustomPrompt="1"/>
          </p:nvPr>
        </p:nvSpPr>
        <p:spPr>
          <a:xfrm>
            <a:off x="566928" y="2788920"/>
            <a:ext cx="6309360" cy="347472"/>
          </a:xfrm>
          <a:prstGeom prst="rect">
            <a:avLst/>
          </a:prstGeom>
          <a:noFill/>
          <a:ln/>
        </p:spPr>
        <p:txBody>
          <a:bodyPr wrap="square" rtlCol="0"/>
          <a:lstStyle>
            <a:lvl1pPr algn="l" indent="0" marL="0">
              <a:buNone/>
              <a:defRPr lang="en-US" sz="1800" b="1" dirty="0">
                <a:solidFill>
                  <a:schemeClr val="accent1"/>
                </a:solidFill>
              </a:defRPr>
            </a:lvl1pPr>
          </a:lstStyle>
          <a:p>
            <a:pPr algn="l" indent="0" marL="0">
              <a:buNone/>
            </a:pPr>
            <a:endParaRPr lang="en-US" sz="1800" dirty="0"/>
          </a:p>
        </p:txBody>
      </p:sp>
      <p:sp>
        <p:nvSpPr>
          <p:cNvPr id="8" name="Text 4"/>
          <p:cNvSpPr/>
          <p:nvPr>
            <p:ph idx="106" type="body" hasCustomPrompt="1"/>
          </p:nvPr>
        </p:nvSpPr>
        <p:spPr>
          <a:xfrm>
            <a:off x="566928" y="3200400"/>
            <a:ext cx="6309360" cy="731520"/>
          </a:xfrm>
          <a:prstGeom prst="rect">
            <a:avLst/>
          </a:prstGeom>
          <a:noFill/>
          <a:ln/>
        </p:spPr>
        <p:txBody>
          <a:bodyPr wrap="square" rtlCol="0"/>
          <a:lstStyle>
            <a:lvl1pPr algn="l" indent="0" marL="0">
              <a:buNone/>
              <a:defRPr lang="en-US" sz="1800" dirty="0">
                <a:solidFill>
                  <a:schemeClr val="tx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sp>
      <p:sp>
        <p:nvSpPr>
          <p:cNvPr id="3" name="Shape 1"/>
          <p:cNvSpPr/>
          <p:nvPr/>
        </p:nvSpPr>
        <p:spPr>
          <a:xfrm>
            <a:off x="566928" y="4828032"/>
            <a:ext cx="8001000" cy="9144"/>
          </a:xfrm>
          <a:prstGeom prst="rect">
            <a:avLst/>
          </a:prstGeom>
          <a:solidFill>
            <a:schemeClr val="accent2"/>
          </a:solidFill>
          <a:ln/>
        </p:spPr>
      </p:sp>
      <p:sp>
        <p:nvSpPr>
          <p:cNvPr id="4" name="Text 2"/>
          <p:cNvSpPr/>
          <p:nvPr/>
        </p:nvSpPr>
        <p:spPr>
          <a:xfrm>
            <a:off x="566928" y="4864608"/>
            <a:ext cx="2286000" cy="219456"/>
          </a:xfrm>
          <a:prstGeom prst="rect">
            <a:avLst/>
          </a:prstGeom>
          <a:noFill/>
          <a:ln/>
        </p:spPr>
        <p:txBody>
          <a:bodyPr wrap="square" lIns="0" tIns="0" rIns="0" bIns="0" rtlCol="0" anchor="ctr"/>
          <a:lstStyle/>
          <a:p>
            <a:pPr indent="0" marL="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p:nvPr>
            <p:ph idx="103" type="title" hasCustomPrompt="1"/>
          </p:nvPr>
        </p:nvSpPr>
        <p:spPr>
          <a:xfrm>
            <a:off x="566928" y="566928"/>
            <a:ext cx="8001000" cy="512064"/>
          </a:xfrm>
          <a:prstGeom prst="rect">
            <a:avLst/>
          </a:prstGeom>
          <a:noFill/>
          <a:ln/>
        </p:spPr>
        <p:txBody>
          <a:bodyPr wrap="square" rtlCol="0"/>
          <a:lstStyle>
            <a:lvl1pPr algn="l" indent="0" marL="0">
              <a:buNone/>
              <a:defRPr lang="en-US" sz="2850" b="1" dirty="0">
                <a:solidFill>
                  <a:schemeClr val="tx1"/>
                </a:solidFill>
              </a:defRPr>
            </a:lvl1pPr>
          </a:lstStyle>
          <a:p>
            <a:pPr algn="l" indent="0" marL="0">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01 / 13</a:t>
            </a:r>
            <a:endParaRPr lang="en-US" sz="1130" dirty="0"/>
          </a:p>
        </p:txBody>
      </p:sp>
      <p:sp>
        <p:nvSpPr>
          <p:cNvPr id="3" name="Text 4"/>
          <p:cNvSpPr/>
          <p:nvPr>
            <p:ph idx="104" type="title" hasCustomPrompt="1"/>
          </p:nvPr>
        </p:nvSpPr>
        <p:spPr>
          <a:xfrm>
            <a:off x="566928" y="1325880"/>
            <a:ext cx="6309360" cy="868680"/>
          </a:xfrm>
          <a:prstGeom prst="rect">
            <a:avLst/>
          </a:prstGeom>
          <a:noFill/>
          <a:ln/>
        </p:spPr>
        <p:txBody>
          <a:bodyPr wrap="square" lIns="0" tIns="0" rIns="0" bIns="0" rtlCol="0" anchor="ctr"/>
          <a:lstStyle/>
          <a:p>
            <a:pPr algn="l" indent="0" marL="0">
              <a:buNone/>
            </a:pPr>
            <a:r>
              <a:rPr lang="en-US" sz="4800" b="1" dirty="0">
                <a:solidFill>
                  <a:schemeClr val="tx1"/>
                </a:solidFill>
              </a:rPr>
              <a:t>SwarmSentinel</a:t>
            </a:r>
            <a:endParaRPr lang="en-US" sz="4800" dirty="0"/>
          </a:p>
        </p:txBody>
      </p:sp>
      <p:sp>
        <p:nvSpPr>
          <p:cNvPr id="4" name="Text 4"/>
          <p:cNvSpPr/>
          <p:nvPr>
            <p:ph idx="105" type="body" hasCustomPrompt="1"/>
          </p:nvPr>
        </p:nvSpPr>
        <p:spPr>
          <a:xfrm>
            <a:off x="566928" y="2788920"/>
            <a:ext cx="6309360" cy="347472"/>
          </a:xfrm>
          <a:prstGeom prst="rect">
            <a:avLst/>
          </a:prstGeom>
          <a:noFill/>
          <a:ln/>
        </p:spPr>
        <p:txBody>
          <a:bodyPr wrap="square" lIns="0" tIns="0" rIns="0" bIns="0" rtlCol="0" anchor="ctr"/>
          <a:lstStyle/>
          <a:p>
            <a:pPr algn="l" indent="0" marL="0">
              <a:buNone/>
            </a:pPr>
            <a:r>
              <a:rPr lang="en-US" sz="1800" b="1" dirty="0">
                <a:solidFill>
                  <a:schemeClr val="accent1"/>
                </a:solidFill>
              </a:rPr>
              <a:t>AI Swarm Dynamics Hackathon · v3.0</a:t>
            </a:r>
            <a:endParaRPr lang="en-US" sz="1800" dirty="0"/>
          </a:p>
        </p:txBody>
      </p:sp>
      <p:sp>
        <p:nvSpPr>
          <p:cNvPr id="5" name="Text 4"/>
          <p:cNvSpPr/>
          <p:nvPr>
            <p:ph idx="106" type="body" hasCustomPrompt="1"/>
          </p:nvPr>
        </p:nvSpPr>
        <p:spPr>
          <a:xfrm>
            <a:off x="566928" y="3200400"/>
            <a:ext cx="6309360" cy="731520"/>
          </a:xfrm>
          <a:prstGeom prst="rect">
            <a:avLst/>
          </a:prstGeom>
          <a:noFill/>
          <a:ln/>
        </p:spPr>
        <p:txBody>
          <a:bodyPr wrap="square" lIns="0" tIns="0" rIns="0" bIns="0" rtlCol="0" anchor="t"/>
          <a:lstStyle/>
          <a:p>
            <a:pPr algn="l" indent="0" marL="0">
              <a:buNone/>
            </a:pPr>
            <a:r>
              <a:rPr lang="en-US" sz="1800" dirty="0">
                <a:solidFill>
                  <a:schemeClr val="tx1"/>
                </a:solidFill>
              </a:rPr>
              <a:t>Runtime containment for agent swarms, intercepted live and tested on real agents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02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sp>
      <p:sp>
        <p:nvSpPr>
          <p:cNvPr id="5" name="Numeral 01"/>
          <p:cNvSpPr txBox="1"/>
          <p:nvPr/>
        </p:nvSpPr>
        <p:spPr>
          <a:xfrm>
            <a:off x="740664" y="1591056"/>
            <a:ext cx="640080" cy="475488"/>
          </a:xfrm>
          <a:prstGeom prst="rect">
            <a:avLst/>
          </a:prstGeom>
          <a:noFill/>
          <a:ln/>
        </p:spPr>
        <p:txBody>
          <a:bodyPr wrap="square" lIns="0" tIns="0" rIns="0" bIns="0" rtlCol="0" anchor="ctr"/>
          <a:lstStyle/>
          <a:p>
            <a:pPr indent="0" marL="0">
              <a:buNone/>
            </a:pPr>
            <a:r>
              <a:rPr lang="en-US" sz="2850" b="1" dirty="0">
                <a:solidFill>
                  <a:schemeClr val="accent1"/>
                </a:solidFill>
              </a:rPr>
              <a:t>01</a:t>
            </a:r>
            <a:endParaRPr lang="en-US" sz="2850" dirty="0"/>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indent="0" marL="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sp>
      <p:sp>
        <p:nvSpPr>
          <p:cNvPr id="8" name="Numeral 02"/>
          <p:cNvSpPr txBox="1"/>
          <p:nvPr/>
        </p:nvSpPr>
        <p:spPr>
          <a:xfrm>
            <a:off x="4837176" y="1591056"/>
            <a:ext cx="640080" cy="475488"/>
          </a:xfrm>
          <a:prstGeom prst="rect">
            <a:avLst/>
          </a:prstGeom>
          <a:noFill/>
          <a:ln/>
        </p:spPr>
        <p:txBody>
          <a:bodyPr wrap="square" lIns="0" tIns="0" rIns="0" bIns="0" rtlCol="0" anchor="ctr"/>
          <a:lstStyle/>
          <a:p>
            <a:pPr indent="0" marL="0">
              <a:buNone/>
            </a:pPr>
            <a:r>
              <a:rPr lang="en-US" sz="2850" b="1" dirty="0">
                <a:solidFill>
                  <a:schemeClr val="accent1"/>
                </a:solidFill>
              </a:rPr>
              <a:t>02</a:t>
            </a:r>
            <a:endParaRPr lang="en-US" sz="2850" dirty="0"/>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indent="0" marL="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sp>
      <p:sp>
        <p:nvSpPr>
          <p:cNvPr id="11" name="Numeral 03"/>
          <p:cNvSpPr txBox="1"/>
          <p:nvPr/>
        </p:nvSpPr>
        <p:spPr>
          <a:xfrm>
            <a:off x="740664" y="3182112"/>
            <a:ext cx="640080" cy="475488"/>
          </a:xfrm>
          <a:prstGeom prst="rect">
            <a:avLst/>
          </a:prstGeom>
          <a:noFill/>
          <a:ln/>
        </p:spPr>
        <p:txBody>
          <a:bodyPr wrap="square" lIns="0" tIns="0" rIns="0" bIns="0" rtlCol="0" anchor="ctr"/>
          <a:lstStyle/>
          <a:p>
            <a:pPr indent="0" marL="0">
              <a:buNone/>
            </a:pPr>
            <a:r>
              <a:rPr lang="en-US" sz="2850" b="1" dirty="0">
                <a:solidFill>
                  <a:schemeClr val="accent1"/>
                </a:solidFill>
              </a:rPr>
              <a:t>03</a:t>
            </a:r>
            <a:endParaRPr lang="en-US" sz="2850" dirty="0"/>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indent="0" marL="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sp>
      <p:sp>
        <p:nvSpPr>
          <p:cNvPr id="14" name="Numeral 04"/>
          <p:cNvSpPr txBox="1"/>
          <p:nvPr/>
        </p:nvSpPr>
        <p:spPr>
          <a:xfrm>
            <a:off x="4837176" y="3182112"/>
            <a:ext cx="640080" cy="475488"/>
          </a:xfrm>
          <a:prstGeom prst="rect">
            <a:avLst/>
          </a:prstGeom>
          <a:noFill/>
          <a:ln/>
        </p:spPr>
        <p:txBody>
          <a:bodyPr wrap="square" lIns="0" tIns="0" rIns="0" bIns="0" rtlCol="0" anchor="ctr"/>
          <a:lstStyle/>
          <a:p>
            <a:pPr indent="0" marL="0">
              <a:buNone/>
            </a:pPr>
            <a:r>
              <a:rPr lang="en-US" sz="2850" b="1" dirty="0">
                <a:solidFill>
                  <a:schemeClr val="accent1"/>
                </a:solidFill>
              </a:rPr>
              <a:t>04</a:t>
            </a:r>
            <a:endParaRPr lang="en-US" sz="2850" dirty="0"/>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indent="0" marL="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03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Threat model: what is covered, honestly</a:t>
            </a:r>
            <a:endParaRPr lang="en-US" sz="2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914400"/>
        </p:xfrm>
        <a:graphic>
          <a:graphicData uri="http://schemas.openxmlformats.org/drawingml/2006/table">
            <a:tbl>
              <a:tblPr/>
              <a:tblGrid>
                <a:gridCol w="3063240"/>
                <a:gridCol w="3657600"/>
                <a:gridCol w="1280160"/>
              </a:tblGrid>
              <a:tr h="338328">
                <a:tc>
                  <a:txBody>
                    <a:bodyPr/>
                    <a:lstStyle/>
                    <a:p>
                      <a:pPr indent="0" marL="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indent="0" marL="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indent="0" marL="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Argument rules on credential stores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3"/>
                          </a:solidFill>
                          <a:latin typeface="IBM Plex Sans" pitchFamily="34" charset="0"/>
                          <a:ea typeface="IBM Plex Sans" pitchFamily="34" charset="-122"/>
                          <a:cs typeface="IBM Plex Sans" pitchFamily="34" charset="-120"/>
                        </a:rPr>
                        <a:t>Report-only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338328">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Separate process from agents; API not yet authenticated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04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sp>
      <p:sp>
        <p:nvSpPr>
          <p:cNvPr id="8" name="Text 6"/>
          <p:cNvSpPr txBox="1"/>
          <p:nvPr/>
        </p:nvSpPr>
        <p:spPr>
          <a:xfrm>
            <a:off x="2212848" y="1371600"/>
            <a:ext cx="1417320" cy="45720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sp>
      <p:sp>
        <p:nvSpPr>
          <p:cNvPr id="10" name="Box Sentinel"/>
          <p:cNvSpPr/>
          <p:nvPr/>
        </p:nvSpPr>
        <p:spPr>
          <a:xfrm>
            <a:off x="3858768" y="1371600"/>
            <a:ext cx="1417320" cy="457200"/>
          </a:xfrm>
          <a:prstGeom prst="rect">
            <a:avLst/>
          </a:prstGeom>
          <a:solidFill>
            <a:schemeClr val="bg2"/>
          </a:solidFill>
          <a:ln/>
        </p:spPr>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chemeClr val="accent1"/>
            </a:solidFill>
            <a:prstDash val="solid"/>
            <a:tailEnd type="triangle"/>
          </a:ln>
        </p:spPr>
      </p:sp>
      <p:sp>
        <p:nvSpPr>
          <p:cNvPr id="13" name="Box Flight recorder"/>
          <p:cNvSpPr/>
          <p:nvPr/>
        </p:nvSpPr>
        <p:spPr>
          <a:xfrm>
            <a:off x="5504688" y="1371600"/>
            <a:ext cx="1417320" cy="457200"/>
          </a:xfrm>
          <a:prstGeom prst="rect">
            <a:avLst/>
          </a:prstGeom>
          <a:solidFill>
            <a:schemeClr val="bg2"/>
          </a:solidFill>
          <a:ln/>
        </p:spPr>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sp>
      <p:sp>
        <p:nvSpPr>
          <p:cNvPr id="16" name="Box Live dashboard"/>
          <p:cNvSpPr/>
          <p:nvPr/>
        </p:nvSpPr>
        <p:spPr>
          <a:xfrm>
            <a:off x="7150608" y="1371600"/>
            <a:ext cx="1417320" cy="457200"/>
          </a:xfrm>
          <a:prstGeom prst="rect">
            <a:avLst/>
          </a:prstGeom>
          <a:solidFill>
            <a:schemeClr val="bg2"/>
          </a:solidFill>
          <a:ln/>
        </p:spPr>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chemeClr val="accent1"/>
            </a:solidFill>
            <a:prstDash val="dash"/>
            <a:headEnd type="triangle"/>
          </a:ln>
        </p:spPr>
      </p:sp>
      <p:sp>
        <p:nvSpPr>
          <p:cNvPr id="19" name="Text 17"/>
          <p:cNvSpPr txBox="1"/>
          <p:nvPr/>
        </p:nvSpPr>
        <p:spPr>
          <a:xfrm>
            <a:off x="2052828" y="2304288"/>
            <a:ext cx="1737360" cy="237744"/>
          </a:xfrm>
          <a:prstGeom prst="rect">
            <a:avLst/>
          </a:prstGeom>
          <a:noFill/>
          <a:ln/>
        </p:spPr>
        <p:txBody>
          <a:bodyPr wrap="square" lIns="0" tIns="0" rIns="0" bIns="0" rtlCol="0" anchor="ctr"/>
          <a:lstStyle/>
          <a:p>
            <a:pPr algn="ctr" indent="0" marL="0">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chemeClr val="accent1"/>
            </a:solidFill>
            <a:prstDash val="dash"/>
            <a:headEnd type="triangle"/>
          </a:ln>
        </p:spPr>
      </p:sp>
      <p:sp>
        <p:nvSpPr>
          <p:cNvPr id="21" name="Text 19"/>
          <p:cNvSpPr txBox="1"/>
          <p:nvPr/>
        </p:nvSpPr>
        <p:spPr>
          <a:xfrm>
            <a:off x="3698748" y="2304288"/>
            <a:ext cx="1737360" cy="237744"/>
          </a:xfrm>
          <a:prstGeom prst="rect">
            <a:avLst/>
          </a:prstGeom>
          <a:noFill/>
          <a:ln/>
        </p:spPr>
        <p:txBody>
          <a:bodyPr wrap="square" lIns="0" tIns="0" rIns="0" bIns="0" rtlCol="0" anchor="ctr"/>
          <a:lstStyle/>
          <a:p>
            <a:pPr algn="ctr" indent="0" marL="0">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05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indent="0" marL="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indent="0" marL="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1</a:t>
            </a:r>
            <a:endParaRPr lang="en-US" sz="1300" dirty="0"/>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indent="0" marL="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2</a:t>
            </a:r>
            <a:endParaRPr lang="en-US" sz="1300" dirty="0"/>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indent="0" marL="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3</a:t>
            </a:r>
            <a:endParaRPr lang="en-US" sz="1300" dirty="0"/>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indent="0" marL="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4</a:t>
            </a:r>
            <a:endParaRPr lang="en-US" sz="1300" dirty="0"/>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indent="0" marL="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5</a:t>
            </a:r>
            <a:endParaRPr lang="en-US" sz="1300" dirty="0"/>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indent="0" marL="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6</a:t>
            </a:r>
            <a:endParaRPr lang="en-US" sz="1300" dirty="0"/>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indent="0" marL="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7</a:t>
            </a:r>
            <a:endParaRPr lang="en-US" sz="1300" dirty="0"/>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indent="0" marL="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8</a:t>
            </a:r>
            <a:endParaRPr lang="en-US" sz="1300" dirty="0"/>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indent="0" marL="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9</a:t>
            </a:r>
            <a:endParaRPr lang="en-US" sz="1300" dirty="0"/>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indent="0" marL="0">
              <a:buNone/>
            </a:pPr>
            <a:r>
              <a:rPr lang="en-US" sz="1400" dirty="0">
                <a:solidFill>
                  <a:schemeClr val="tx1"/>
                </a:solidFill>
              </a:rPr>
              <a:t>Write cap and repeated intent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06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Attack: a poisoned invoice</a:t>
            </a:r>
            <a:endParaRPr lang="en-US" sz="2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914400"/>
        </p:xfrm>
        <a:graphic>
          <a:graphicData uri="http://schemas.openxmlformats.org/drawingml/2006/table">
            <a:tbl>
              <a:tblPr/>
              <a:tblGrid>
                <a:gridCol w="548640"/>
                <a:gridCol w="4526280"/>
                <a:gridCol w="2926080"/>
              </a:tblGrid>
              <a:tr h="420624">
                <a:tc>
                  <a:txBody>
                    <a:bodyPr/>
                    <a:lstStyle/>
                    <a:p>
                      <a:pPr indent="0" marL="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indent="0" marL="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indent="0" marL="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r>
              <a:tr h="420624">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1</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420624">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2</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420624">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3</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420624">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4</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420624">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5</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r h="420624">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6</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indent="0" marL="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indent="0" marL="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07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receipt-parser</a:t>
            </a:r>
            <a:endParaRPr lang="en-US" sz="1250" dirty="0"/>
          </a:p>
          <a:p>
            <a:pPr algn="ctr" indent="0" marL="0">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ledger-agent</a:t>
            </a:r>
            <a:endParaRPr lang="en-US" sz="1250" dirty="0"/>
          </a:p>
          <a:p>
            <a:pPr algn="ctr" indent="0" marL="0">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algn="ctr" indent="0" marL="0">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sp>
      <p:sp>
        <p:nvSpPr>
          <p:cNvPr id="11" name="Text 9"/>
          <p:cNvSpPr txBox="1"/>
          <p:nvPr/>
        </p:nvSpPr>
        <p:spPr>
          <a:xfrm>
            <a:off x="2103120" y="1234440"/>
            <a:ext cx="2011680" cy="292608"/>
          </a:xfrm>
          <a:prstGeom prst="rect">
            <a:avLst/>
          </a:prstGeom>
          <a:noFill/>
          <a:ln/>
        </p:spPr>
        <p:txBody>
          <a:bodyPr wrap="square" lIns="0" tIns="0" rIns="0" bIns="0" rtlCol="0" anchor="ctr"/>
          <a:lstStyle/>
          <a:p>
            <a:pPr algn="ctr" indent="0" marL="0">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sp>
      <p:sp>
        <p:nvSpPr>
          <p:cNvPr id="13" name="Text 11"/>
          <p:cNvSpPr txBox="1"/>
          <p:nvPr/>
        </p:nvSpPr>
        <p:spPr>
          <a:xfrm>
            <a:off x="5641848" y="1645920"/>
            <a:ext cx="804672" cy="274320"/>
          </a:xfrm>
          <a:prstGeom prst="rect">
            <a:avLst/>
          </a:prstGeom>
          <a:noFill/>
          <a:ln/>
        </p:spPr>
        <p:txBody>
          <a:bodyPr wrap="square" lIns="0" tIns="0" rIns="0" bIns="0" rtlCol="0" anchor="ctr"/>
          <a:lstStyle/>
          <a:p>
            <a:pPr algn="ctr" indent="0" marL="0">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08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r>
          <p:cNvPicPr>
            <a:picLocks noChangeAspect="1"/>
          </p:cNvPicPr>
          <p:nvPr/>
        </p:nvPicPr>
        <p:blipFill>
          <a:blip r:embed="rId1"/>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indent="0" marL="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Launch the attack from the browser</a:t>
            </a:r>
            <a:endParaRPr lang="en-US" sz="1400" dirty="0"/>
          </a:p>
          <a:p>
            <a:pPr marL="177800" indent="-177800">
              <a:spcAft>
                <a:spcPts val="1000"/>
              </a:spcAft>
              <a:buClr>
                <a:schemeClr val="accent1"/>
              </a:buClr>
              <a:buSzPct val="100000"/>
              <a:buChar char="•"/>
            </a:pPr>
            <a:r>
              <a:rPr lang="en-US" sz="1400" dirty="0">
                <a:solidFill>
                  <a:schemeClr val="tx1"/>
                </a:solidFill>
              </a:rPr>
              <a:t>Decisions arrive as they happen</a:t>
            </a:r>
            <a:endParaRPr lang="en-US" sz="1400" dirty="0"/>
          </a:p>
          <a:p>
            <a:pPr marL="177800" indent="-177800">
              <a:spcAft>
                <a:spcPts val="1000"/>
              </a:spcAft>
              <a:buClr>
                <a:schemeClr val="accent1"/>
              </a:buClr>
              <a:buSzPct val="100000"/>
              <a:buChar char="•"/>
            </a:pPr>
            <a:r>
              <a:rPr lang="en-US" sz="1400" dirty="0">
                <a:solidFill>
                  <a:schemeClr val="tx1"/>
                </a:solidFill>
              </a:rPr>
              <a:t>Tainted, dropped and revoked, live</a:t>
            </a:r>
            <a:endParaRPr lang="en-US" sz="1400" dirty="0"/>
          </a:p>
          <a:p>
            <a:pPr marL="177800" indent="-177800">
              <a:spcAft>
                <a:spcPts val="1000"/>
              </a:spcAft>
              <a:buClr>
                <a:schemeClr val="accent1"/>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09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r>
          <p:cNvPicPr>
            <a:picLocks noChangeAspect="1"/>
          </p:cNvPicPr>
          <p:nvPr/>
        </p:nvPicPr>
        <p:blipFill>
          <a:blip r:embed="rId1"/>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indent="0" marL="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chemeClr val="accent1"/>
              </a:buClr>
              <a:buSzPct val="100000"/>
              <a:buChar char="•"/>
            </a:pPr>
            <a:r>
              <a:rPr lang="en-US" sz="1400" dirty="0">
                <a:solidFill>
                  <a:schemeClr val="tx1"/>
                </a:solidFill>
              </a:rPr>
              <a:t>Loop members revoked</a:t>
            </a:r>
            <a:endParaRPr lang="en-US" sz="1400" dirty="0"/>
          </a:p>
          <a:p>
            <a:pPr marL="177800" indent="-177800">
              <a:spcAft>
                <a:spcPts val="1000"/>
              </a:spcAft>
              <a:buClr>
                <a:schemeClr val="accent1"/>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chemeClr val="accent1"/>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10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indent="0" marL="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indent="0" marL="0">
              <a:buNone/>
            </a:pP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indent="0" marL="0">
              <a:buNone/>
            </a:pP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indent="0" marL="0">
              <a:buNone/>
            </a:pP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indent="0" marL="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sp>
      <p:sp>
        <p:nvSpPr>
          <p:cNvPr id="7" name="Text 5"/>
          <p:cNvSpPr txBox="1"/>
          <p:nvPr/>
        </p:nvSpPr>
        <p:spPr>
          <a:xfrm>
            <a:off x="5806440" y="1490472"/>
            <a:ext cx="2578608" cy="548640"/>
          </a:xfrm>
          <a:prstGeom prst="rect">
            <a:avLst/>
          </a:prstGeom>
          <a:noFill/>
          <a:ln/>
        </p:spPr>
        <p:txBody>
          <a:bodyPr wrap="square" lIns="0" tIns="0" rIns="0" bIns="0" rtlCol="0" anchor="ctr"/>
          <a:lstStyle/>
          <a:p>
            <a:pPr indent="0" marL="0">
              <a:buNone/>
            </a:pPr>
            <a:r>
              <a:rPr lang="en-US" sz="2850" b="1" dirty="0">
                <a:solidFill>
                  <a:schemeClr val="accent1"/>
                </a:solidFill>
              </a:rPr>
              <a:t>0.024 ms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indent="0" marL="0">
              <a:buNone/>
            </a:pPr>
            <a:r>
              <a:rPr lang="en-US" sz="1300" dirty="0">
                <a:solidFill>
                  <a:schemeClr val="tx1"/>
                </a:solidFill>
              </a:rPr>
              <a:t>p50 per action, in-process</a:t>
            </a:r>
            <a:endParaRPr lang="en-US" sz="1300" dirty="0"/>
          </a:p>
          <a:p>
            <a:pPr indent="0" marL="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sp>
      <p:sp>
        <p:nvSpPr>
          <p:cNvPr id="10" name="Text 8"/>
          <p:cNvSpPr txBox="1"/>
          <p:nvPr/>
        </p:nvSpPr>
        <p:spPr>
          <a:xfrm>
            <a:off x="5806440" y="3182112"/>
            <a:ext cx="2578608" cy="548640"/>
          </a:xfrm>
          <a:prstGeom prst="rect">
            <a:avLst/>
          </a:prstGeom>
          <a:noFill/>
          <a:ln/>
        </p:spPr>
        <p:txBody>
          <a:bodyPr wrap="square" lIns="0" tIns="0" rIns="0" bIns="0" rtlCol="0" anchor="ctr"/>
          <a:lstStyle/>
          <a:p>
            <a:pPr indent="0" marL="0">
              <a:buNone/>
            </a:pPr>
            <a:r>
              <a:rPr lang="en-US" sz="2850" b="1" dirty="0">
                <a:solidFill>
                  <a:schemeClr val="accent1"/>
                </a:solidFill>
              </a:rPr>
              <a:t>0.39 ms</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indent="0" marL="0">
              <a:buNone/>
            </a:pPr>
            <a:r>
              <a:rPr lang="en-US" sz="1300" dirty="0">
                <a:solidFill>
                  <a:schemeClr val="tx1"/>
                </a:solidFill>
              </a:rPr>
              <a:t>p50 per action, localhost HTTP</a:t>
            </a:r>
            <a:endParaRPr lang="en-US" sz="1300" dirty="0"/>
          </a:p>
          <a:p>
            <a:pPr indent="0" marL="0">
              <a:buNone/>
            </a:pPr>
            <a:r>
              <a:rPr lang="en-US" sz="1300" dirty="0">
                <a:solidFill>
                  <a:schemeClr val="tx1"/>
                </a:solidFill>
              </a:rPr>
              <a:t>p99 0.58 ms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11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sp>
      <p:graphicFrame>
        <p:nvGraphicFramePr>
          <p:cNvPr id="5" name="Chart 0" descr=""/>
          <p:cNvGraphicFramePr/>
          <p:nvPr/>
        </p:nvGraphicFramePr>
        <p:xfrm>
          <a:off x="685800" y="1417320"/>
          <a:ext cx="4754880" cy="3063240"/>
        </p:xfrm>
        <a:graphic xmlns:a="http://schemas.openxmlformats.org/drawingml/2006/main">
          <a:graphicData uri="http://schemas.openxmlformats.org/drawingml/2006/chart">
            <c:chart xmlns:c="http://schemas.openxmlformats.org/drawingml/2006/chart" r:id="rId1"/>
          </a:graphicData>
        </a:graphic>
      </p:graphicFrame>
      <p:sp>
        <p:nvSpPr>
          <p:cNvPr id="6" name="Callout 4,681"/>
          <p:cNvSpPr/>
          <p:nvPr/>
        </p:nvSpPr>
        <p:spPr>
          <a:xfrm>
            <a:off x="5760720" y="1325880"/>
            <a:ext cx="2807208" cy="1554480"/>
          </a:xfrm>
          <a:prstGeom prst="rect">
            <a:avLst/>
          </a:prstGeom>
          <a:solidFill>
            <a:schemeClr val="bg2"/>
          </a:solidFill>
          <a:ln/>
        </p:spPr>
      </p:sp>
      <p:sp>
        <p:nvSpPr>
          <p:cNvPr id="7" name="Text 4"/>
          <p:cNvSpPr txBox="1"/>
          <p:nvPr/>
        </p:nvSpPr>
        <p:spPr>
          <a:xfrm>
            <a:off x="5943600" y="1490472"/>
            <a:ext cx="2441448" cy="548640"/>
          </a:xfrm>
          <a:prstGeom prst="rect">
            <a:avLst/>
          </a:prstGeom>
          <a:noFill/>
          <a:ln/>
        </p:spPr>
        <p:txBody>
          <a:bodyPr wrap="square" lIns="0" tIns="0" rIns="0" bIns="0" rtlCol="0" anchor="ctr"/>
          <a:lstStyle/>
          <a:p>
            <a:pPr indent="0" marL="0">
              <a:buNone/>
            </a:pPr>
            <a:r>
              <a:rPr lang="en-US" sz="2850" b="1" dirty="0">
                <a:solidFill>
                  <a:schemeClr val="accent1"/>
                </a:solidFill>
              </a:rPr>
              <a:t>4,681</a:t>
            </a:r>
            <a:endParaRPr lang="en-US" sz="2850" dirty="0"/>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indent="0" marL="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sp>
      <p:sp>
        <p:nvSpPr>
          <p:cNvPr id="10" name="Text 7"/>
          <p:cNvSpPr txBox="1"/>
          <p:nvPr/>
        </p:nvSpPr>
        <p:spPr>
          <a:xfrm>
            <a:off x="5943600" y="3182112"/>
            <a:ext cx="2441448" cy="548640"/>
          </a:xfrm>
          <a:prstGeom prst="rect">
            <a:avLst/>
          </a:prstGeom>
          <a:noFill/>
          <a:ln/>
        </p:spPr>
        <p:txBody>
          <a:bodyPr wrap="square" lIns="0" tIns="0" rIns="0" bIns="0" rtlCol="0" anchor="ctr"/>
          <a:lstStyle/>
          <a:p>
            <a:pPr indent="0" marL="0">
              <a:buNone/>
            </a:pPr>
            <a:r>
              <a:rPr lang="en-US" sz="2850" b="1" dirty="0">
                <a:solidFill>
                  <a:schemeClr val="accent1"/>
                </a:solidFill>
              </a:rPr>
              <a:t>44%</a:t>
            </a:r>
            <a:endParaRPr lang="en-US" sz="2850" dirty="0"/>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indent="0" marL="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12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sp>
      <p:sp>
        <p:nvSpPr>
          <p:cNvPr id="5" name="Text 3"/>
          <p:cNvSpPr txBox="1"/>
          <p:nvPr/>
        </p:nvSpPr>
        <p:spPr>
          <a:xfrm>
            <a:off x="768096"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Known limits</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Interception is cooperative: agents must call through the guard</a:t>
            </a:r>
            <a:endParaRPr lang="en-US" sz="1400" dirty="0"/>
          </a:p>
          <a:p>
            <a:pPr marL="177800" indent="-177800">
              <a:spcAft>
                <a:spcPts val="900"/>
              </a:spcAft>
              <a:buClr>
                <a:schemeClr val="accent1"/>
              </a:buClr>
              <a:buSzPct val="100000"/>
              <a:buChar char="•"/>
            </a:pPr>
            <a:r>
              <a:rPr lang="en-US" sz="1400" dirty="0">
                <a:solidFill>
                  <a:schemeClr val="tx1"/>
                </a:solidFill>
              </a:rPr>
              <a:t>Demo agents are scripted to obey the injection, not live LLMs</a:t>
            </a:r>
            <a:endParaRPr lang="en-US" sz="1400" dirty="0"/>
          </a:p>
          <a:p>
            <a:pPr marL="177800" indent="-177800">
              <a:spcAft>
                <a:spcPts val="900"/>
              </a:spcAft>
              <a:buClr>
                <a:schemeClr val="accent1"/>
              </a:buClr>
              <a:buSzPct val="100000"/>
              <a:buChar char="•"/>
            </a:pPr>
            <a:r>
              <a:rPr lang="en-US" sz="1400" dirty="0">
                <a:solidFill>
                  <a:schemeClr val="tx1"/>
                </a:solidFill>
              </a:rPr>
              <a:t>Gateway API is not yet authenticated</a:t>
            </a:r>
            <a:endParaRPr lang="en-US" sz="1400" dirty="0"/>
          </a:p>
          <a:p>
            <a:pPr marL="177800" indent="-177800">
              <a:spcAft>
                <a:spcPts val="900"/>
              </a:spcAft>
              <a:buClr>
                <a:schemeClr val="accent1"/>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sp>
      <p:sp>
        <p:nvSpPr>
          <p:cNvPr id="8" name="Text 6"/>
          <p:cNvSpPr txBox="1"/>
          <p:nvPr/>
        </p:nvSpPr>
        <p:spPr>
          <a:xfrm>
            <a:off x="4864608" y="1463040"/>
            <a:ext cx="3474720" cy="365760"/>
          </a:xfrm>
          <a:prstGeom prst="rect">
            <a:avLst/>
          </a:prstGeom>
          <a:noFill/>
          <a:ln/>
        </p:spPr>
        <p:txBody>
          <a:bodyPr wrap="square" lIns="0" tIns="0" rIns="0" bIns="0" rtlCol="0" anchor="ctr"/>
          <a:lstStyle/>
          <a:p>
            <a:pPr indent="0" marL="0">
              <a:buNone/>
            </a:pPr>
            <a:r>
              <a:rPr lang="en-US" sz="1800" b="1" dirty="0">
                <a:solidFill>
                  <a:schemeClr val="accent1"/>
                </a:solidFill>
              </a:rPr>
              <a:t>Next</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MCP proxy in front of tools, so bypass is impossible</a:t>
            </a:r>
            <a:endParaRPr lang="en-US" sz="1400" dirty="0"/>
          </a:p>
          <a:p>
            <a:pPr marL="177800" indent="-177800">
              <a:spcAft>
                <a:spcPts val="900"/>
              </a:spcAft>
              <a:buClr>
                <a:schemeClr val="accent1"/>
              </a:buClr>
              <a:buSzPct val="100000"/>
              <a:buChar char="•"/>
            </a:pPr>
            <a:r>
              <a:rPr lang="en-US" sz="1400" dirty="0">
                <a:solidFill>
                  <a:schemeClr val="tx1"/>
                </a:solidFill>
              </a:rPr>
              <a:t>A real LLM agent behind the guard</a:t>
            </a:r>
            <a:endParaRPr lang="en-US" sz="1400" dirty="0"/>
          </a:p>
          <a:p>
            <a:pPr marL="177800" indent="-177800">
              <a:spcAft>
                <a:spcPts val="900"/>
              </a:spcAft>
              <a:buClr>
                <a:schemeClr val="accent1"/>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chemeClr val="accent1"/>
              </a:buClr>
              <a:buSzPct val="100000"/>
              <a:buChar char="•"/>
            </a:pPr>
            <a:r>
              <a:rPr lang="en-US" sz="1400" dirty="0">
                <a:solidFill>
                  <a:schemeClr val="tx1"/>
                </a:solidFill>
              </a:rPr>
              <a:t>Authenticated sessions with server-assigned policy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algn="r" indent="0" marL="0">
              <a:buNone/>
            </a:pPr>
            <a:r>
              <a:rPr lang="en-US" sz="1130" dirty="0">
                <a:solidFill>
                  <a:schemeClr val="tx2"/>
                </a:solidFill>
                <a:latin typeface="JetBrains Mono" pitchFamily="34" charset="0"/>
                <a:ea typeface="JetBrains Mono" pitchFamily="34" charset="-122"/>
                <a:cs typeface="JetBrains Mono" pitchFamily="34" charset="-120"/>
              </a:rPr>
              <a:t>13 / 13</a:t>
            </a:r>
            <a:endParaRPr lang="en-US" sz="1130" dirty="0"/>
          </a:p>
        </p:txBody>
      </p:sp>
      <p:sp>
        <p:nvSpPr>
          <p:cNvPr id="3" name="Text 3"/>
          <p:cNvSpPr/>
          <p:nvPr>
            <p:ph idx="103" type="title" hasCustomPrompt="1"/>
          </p:nvPr>
        </p:nvSpPr>
        <p:spPr>
          <a:xfrm>
            <a:off x="566928" y="566928"/>
            <a:ext cx="8001000" cy="512064"/>
          </a:xfrm>
          <a:prstGeom prst="rect">
            <a:avLst/>
          </a:prstGeom>
          <a:noFill/>
          <a:ln/>
        </p:spPr>
        <p:txBody>
          <a:bodyPr wrap="square" lIns="0" tIns="0" rIns="0" bIns="0" rtlCol="0" anchor="ctr"/>
          <a:lstStyle/>
          <a:p>
            <a:pPr algn="l" indent="0" marL="0">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sp>
      <p:pic>
        <p:nvPicPr>
          <p:cNvPr id="5" name="ASP preprint QR code" descr="QR code linking to the ASP preprint on SSRN">    </p:cNvPr>
          <p:cNvPicPr>
            <a:picLocks noChangeAspect="1"/>
          </p:cNvPicPr>
          <p:nvPr/>
        </p:nvPicPr>
        <p:blipFill>
          <a:blip r:embed="rId1"/>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algn="ctr" indent="0" marL="0">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algn="ctr" indent="0" marL="0">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indent="0" marL="0">
              <a:buNone/>
            </a:pPr>
            <a:r>
              <a:rPr lang="en-US" sz="2200" b="1" dirty="0">
                <a:solidFill>
                  <a:schemeClr val="accent1"/>
                </a:solidFill>
              </a:rPr>
              <a:t>Prasad MK</a:t>
            </a:r>
            <a:endParaRPr lang="en-US" sz="2200" dirty="0"/>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indent="0" marL="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697480"/>
            <a:ext cx="1371600" cy="320040"/>
          </a:xfrm>
          <a:prstGeom prst="rect">
            <a:avLst/>
          </a:prstGeom>
          <a:noFill/>
          <a:ln/>
        </p:spPr>
        <p:txBody>
          <a:bodyPr wrap="square" lIns="0" tIns="0" rIns="0" bIns="0" rtlCol="0" anchor="ctr"/>
          <a:lstStyle/>
          <a:p>
            <a:pPr indent="0" marL="0">
              <a:buNone/>
            </a:pPr>
            <a:r>
              <a:rPr lang="en-US" sz="1300" dirty="0">
                <a:solidFill>
                  <a:schemeClr val="tx2"/>
                </a:solidFill>
              </a:rPr>
              <a:t>Code</a:t>
            </a:r>
            <a:endParaRPr lang="en-US" sz="1300" dirty="0"/>
          </a:p>
        </p:txBody>
      </p:sp>
      <p:sp>
        <p:nvSpPr>
          <p:cNvPr id="11" name="Text 8"/>
          <p:cNvSpPr txBox="1"/>
          <p:nvPr/>
        </p:nvSpPr>
        <p:spPr>
          <a:xfrm>
            <a:off x="4800600" y="2697480"/>
            <a:ext cx="3749040" cy="320040"/>
          </a:xfrm>
          <a:prstGeom prst="rect">
            <a:avLst/>
          </a:prstGeom>
          <a:noFill/>
          <a:ln/>
        </p:spPr>
        <p:txBody>
          <a:bodyPr wrap="square" lIns="0" tIns="0" rIns="0" bIns="0" rtlCol="0" anchor="ctr"/>
          <a:lstStyle/>
          <a:p>
            <a:pPr indent="0" marL="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2" name="Text 9"/>
          <p:cNvSpPr txBox="1"/>
          <p:nvPr/>
        </p:nvSpPr>
        <p:spPr>
          <a:xfrm>
            <a:off x="3429000" y="3108960"/>
            <a:ext cx="1371600" cy="320040"/>
          </a:xfrm>
          <a:prstGeom prst="rect">
            <a:avLst/>
          </a:prstGeom>
          <a:noFill/>
          <a:ln/>
        </p:spPr>
        <p:txBody>
          <a:bodyPr wrap="square" lIns="0" tIns="0" rIns="0" bIns="0" rtlCol="0" anchor="ctr"/>
          <a:lstStyle/>
          <a:p>
            <a:pPr indent="0" marL="0">
              <a:buNone/>
            </a:pPr>
            <a:r>
              <a:rPr lang="en-US" sz="1300" dirty="0">
                <a:solidFill>
                  <a:schemeClr val="tx2"/>
                </a:solidFill>
              </a:rPr>
              <a:t>Live demo</a:t>
            </a:r>
            <a:endParaRPr lang="en-US" sz="1300" dirty="0"/>
          </a:p>
        </p:txBody>
      </p:sp>
      <p:sp>
        <p:nvSpPr>
          <p:cNvPr id="13" name="Text 10"/>
          <p:cNvSpPr txBox="1"/>
          <p:nvPr/>
        </p:nvSpPr>
        <p:spPr>
          <a:xfrm>
            <a:off x="4800600" y="3108960"/>
            <a:ext cx="3749040" cy="320040"/>
          </a:xfrm>
          <a:prstGeom prst="rect">
            <a:avLst/>
          </a:prstGeom>
          <a:noFill/>
          <a:ln/>
        </p:spPr>
        <p:txBody>
          <a:bodyPr wrap="square" lIns="0" tIns="0" rIns="0" bIns="0" rtlCol="0" anchor="ctr"/>
          <a:lstStyle/>
          <a:p>
            <a:pPr indent="0" marL="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4" name="Text 11"/>
          <p:cNvSpPr txBox="1"/>
          <p:nvPr/>
        </p:nvSpPr>
        <p:spPr>
          <a:xfrm>
            <a:off x="3429000" y="3520440"/>
            <a:ext cx="1371600" cy="320040"/>
          </a:xfrm>
          <a:prstGeom prst="rect">
            <a:avLst/>
          </a:prstGeom>
          <a:noFill/>
          <a:ln/>
        </p:spPr>
        <p:txBody>
          <a:bodyPr wrap="square" lIns="0" tIns="0" rIns="0" bIns="0" rtlCol="0" anchor="ctr"/>
          <a:lstStyle/>
          <a:p>
            <a:pPr indent="0" marL="0">
              <a:buNone/>
            </a:pPr>
            <a:r>
              <a:rPr lang="en-US" sz="1300" dirty="0">
                <a:solidFill>
                  <a:schemeClr val="tx2"/>
                </a:solidFill>
              </a:rPr>
              <a:t>Threat model</a:t>
            </a:r>
            <a:endParaRPr lang="en-US" sz="1300" dirty="0"/>
          </a:p>
        </p:txBody>
      </p:sp>
      <p:sp>
        <p:nvSpPr>
          <p:cNvPr id="15" name="Text 12"/>
          <p:cNvSpPr txBox="1"/>
          <p:nvPr/>
        </p:nvSpPr>
        <p:spPr>
          <a:xfrm>
            <a:off x="4800600" y="3520440"/>
            <a:ext cx="3749040" cy="320040"/>
          </a:xfrm>
          <a:prstGeom prst="rect">
            <a:avLst/>
          </a:prstGeom>
          <a:noFill/>
          <a:ln/>
        </p:spPr>
        <p:txBody>
          <a:bodyPr wrap="square" lIns="0" tIns="0" rIns="0" bIns="0" rtlCol="0" anchor="ctr"/>
          <a:lstStyle/>
          <a:p>
            <a:pPr indent="0" marL="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6" name="Text 13"/>
          <p:cNvSpPr txBox="1"/>
          <p:nvPr/>
        </p:nvSpPr>
        <p:spPr>
          <a:xfrm>
            <a:off x="3429000" y="4023360"/>
            <a:ext cx="5120640" cy="457200"/>
          </a:xfrm>
          <a:prstGeom prst="rect">
            <a:avLst/>
          </a:prstGeom>
          <a:noFill/>
          <a:ln/>
        </p:spPr>
        <p:txBody>
          <a:bodyPr wrap="square" lIns="0" tIns="0" rIns="0" bIns="0" rtlCol="0" anchor="t"/>
          <a:lstStyle/>
          <a:p>
            <a:pPr indent="0" marL="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1</cp:revision>
  <dcterms:created xsi:type="dcterms:W3CDTF">2026-10-04T03:53:18Z</dcterms:created>
  <dcterms:modified xsi:type="dcterms:W3CDTF">2026-10-04T03:53:18Z</dcterms:modified>
</cp:coreProperties>
</file>
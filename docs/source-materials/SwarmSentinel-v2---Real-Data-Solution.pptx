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10fd4d8-61b4-fd21-7948-5197f63bd609}">
          <p14:sldIdLst>
            <p14:sldId id="256"/>
            <p14:sldId id="257"/>
          </p14:sldIdLst>
        </p14:section>
        <p14:section name="Data and design" id="{97b8cb74-243f-1c40-3cec-0ea7d48ab751}">
          <p14:sldIdLst>
            <p14:sldId id="258"/>
            <p14:sldId id="259"/>
            <p14:sldId id="260"/>
          </p14:sldIdLst>
        </p14:section>
        <p14:section name="Architecture" id="{364c83be-564a-fb8c-11a7-6f36fb14bf51}">
          <p14:sldIdLst>
            <p14:sldId id="261"/>
          </p14:sldIdLst>
        </p14:section>
        <p14:section name="Findings" id="{e9f5a1ac-3bfa-5f9a-7b3e-f8cb2fa6325c}">
          <p14:sldIdLst>
            <p14:sldId id="262"/>
            <p14:sldId id="263"/>
            <p14:sldId id="264"/>
            <p14:sldId id="265"/>
          </p14:sldIdLst>
        </p14:section>
        <p14:section name="Boundaries" id="{7a5cc521-f8ae-a396-e0a7-60f810f99166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19DA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919DAC"/>
                </a:solidFill>
                <a:latin typeface="+mn-lt"/>
              </a:rPr>
              <a:t>Alerts by detector, all 389 days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by detector, all 389 days</c:v>
                </c:pt>
              </c:strCache>
            </c:strRef>
          </c:tx>
          <c:spPr>
            <a:solidFill>
              <a:srgbClr val="29B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0E6E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Reciprocal consensus</c:v>
                  </c:pt>
                  <c:pt idx="1">
                    <c:v>Shared-resource writes</c:v>
                  </c:pt>
                  <c:pt idx="2">
                    <c:v>Echo cascade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876</c:v>
                </c:pt>
                <c:pt idx="1">
                  <c:v>113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0E6E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6E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19DA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1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19DA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919DAC"/>
                </a:solidFill>
                <a:latin typeface="+mn-lt"/>
              </a:rPr>
              <a:t>Would-drop and would-throttle decisions by rule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Would-drop and would-throttle decisions by rule</c:v>
                </c:pt>
              </c:strCache>
            </c:strRef>
          </c:tx>
          <c:spPr>
            <a:solidFill>
              <a:srgbClr val="29B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0E6E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Network outside allowlist</c:v>
                  </c:pt>
                  <c:pt idx="1">
                    <c:v>Argument constraints</c:v>
                  </c:pt>
                  <c:pt idx="2">
                    <c:v>Write cap, shared resource</c:v>
                  </c:pt>
                  <c:pt idx="3">
                    <c:v>Repeated identical intent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86206</c:v>
                </c:pt>
                <c:pt idx="1">
                  <c:v>5512</c:v>
                </c:pt>
                <c:pt idx="2">
                  <c:v>4010</c:v>
                </c:pt>
                <c:pt idx="3">
                  <c:v>1744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0E6E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6E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19DA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1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2 moves SwarmSentinel from synthetic samples to the AI Village dataset: 17 months of frontier-model agents working in a shared environment. The gateway and detectors are the same idea as v1; what changed is the evidence they run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changes. The synthetic scenarios still exist and still produce exactly the v1 decisions; the regression tests pin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gated and reviewed manually. Raw files and the 975 MB SQLite store stay local and gitignored. Human participants become one anonymous actor with their text withheld.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policy files ship: mock.asp.json for the synthetic scenarios and ai-village.asp.json for replays. Both validate against the same Pydantic schema, which follows the paper's network, tools, content-trust, delegation and reporting sections, plus a swarm extension for windows and tripwire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proposes report-only mode as the adoption path: see what a policy would block before enforcing it. Historical data can only ever be evaluated that way, so every AI Village decision is labelled counterfactual in the API, report and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scenarios enter at the gateway, exactly as in v1. The episode scan replays every village day offline (about three minutes) and stores ranked windows the dashboard can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were calibrated on this dataset: four or more agents, directed density 0.6, ten-minute window. A cluster that drifts by one agent no longer re-alerts. Much of what fires is collaboration the village was asked to do; the alerts mark coordination worth reviewing, not misconduct.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Replayed with tripwire feedback off, so no counts come from revocation. These are policy evaluations of historical actions, not claims of harm.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from argument constraints in ai-village.asp.json. The credential reads are routine for the village rather than malicious, but they are exactly the standing access a least-privilege policy would route through a scoped tool. Force pushes exclude --force-with-lease.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locally with a built store. The public Replit deployment has no AI Village data, so it shows only the synthetic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and recorder still share one process; production would need isolated enforcement and durable telemetry. Dataset citation: AI Digest, "AI Village dataset", 2026. https://theaidigest.org/village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347472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828032"/>
            <a:ext cx="8001000" cy="91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8646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7095744" y="0"/>
            <a:ext cx="2048256" cy="5143500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66928" y="1325880"/>
            <a:ext cx="6309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566928" y="2788920"/>
            <a:ext cx="630936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66928" y="3200400"/>
            <a:ext cx="6309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347472" cy="274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828032"/>
            <a:ext cx="8001000" cy="91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8646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SwarmSentinel</a:t>
            </a:r>
            <a:endParaRPr lang="en-US" sz="113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5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11</a:t>
            </a:r>
            <a:endParaRPr lang="en-US" sz="1130" dirty="0"/>
          </a:p>
        </p:txBody>
      </p:sp>
      <p:sp>
        <p:nvSpPr>
          <p:cNvPr id="3" name="Text 4"/>
          <p:cNvSpPr/>
          <p:nvPr>
            <p:ph idx="104" type="title" hasCustomPrompt="1"/>
          </p:nvPr>
        </p:nvSpPr>
        <p:spPr>
          <a:xfrm>
            <a:off x="566928" y="1325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SwarmSentinel</a:t>
            </a:r>
            <a:endParaRPr lang="en-US" sz="48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566928" y="278892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 Swarm Dynamics Hackathon · v2.0</a:t>
            </a:r>
            <a:endParaRPr lang="en-US" sz="1800" dirty="0"/>
          </a:p>
        </p:txBody>
      </p:sp>
      <p:sp>
        <p:nvSpPr>
          <p:cNvPr id="5" name="Text 4"/>
          <p:cNvSpPr/>
          <p:nvPr>
            <p:ph idx="106" type="body" hasCustomPrompt="1"/>
          </p:nvPr>
        </p:nvSpPr>
        <p:spPr>
          <a:xfrm>
            <a:off x="566928" y="32004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ASP runtime policies replayed against real AI Village agents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What changed in v2</a:t>
            </a:r>
            <a:endParaRPr lang="en-US" sz="2850" dirty="0"/>
          </a:p>
        </p:txBody>
      </p:sp>
      <p:sp>
        <p:nvSpPr>
          <p:cNvPr id="4" name="Card 01"/>
          <p:cNvSpPr/>
          <p:nvPr/>
        </p:nvSpPr>
        <p:spPr>
          <a:xfrm>
            <a:off x="566928" y="1481328"/>
            <a:ext cx="3904488" cy="14264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Numeral 01"/>
          <p:cNvSpPr txBox="1"/>
          <p:nvPr/>
        </p:nvSpPr>
        <p:spPr>
          <a:xfrm>
            <a:off x="740664" y="15910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01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36776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80" dirty="0">
                <a:solidFill>
                  <a:schemeClr val="tx1"/>
                </a:solidFill>
              </a:rPr>
              <a:t>Real agent data: 1.23M events from the AI Village export join the synthetic demo</a:t>
            </a:r>
            <a:endParaRPr lang="en-US" sz="1580" dirty="0"/>
          </a:p>
        </p:txBody>
      </p:sp>
      <p:sp>
        <p:nvSpPr>
          <p:cNvPr id="7" name="Card 02"/>
          <p:cNvSpPr/>
          <p:nvPr/>
        </p:nvSpPr>
        <p:spPr>
          <a:xfrm>
            <a:off x="4663440" y="1481328"/>
            <a:ext cx="3904488" cy="14264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Numeral 02"/>
          <p:cNvSpPr txBox="1"/>
          <p:nvPr/>
        </p:nvSpPr>
        <p:spPr>
          <a:xfrm>
            <a:off x="4837176" y="15910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02</a:t>
            </a:r>
            <a:endParaRPr lang="en-US" sz="2850" dirty="0"/>
          </a:p>
        </p:txBody>
      </p:sp>
      <p:sp>
        <p:nvSpPr>
          <p:cNvPr id="9" name="Text 7"/>
          <p:cNvSpPr txBox="1"/>
          <p:nvPr/>
        </p:nvSpPr>
        <p:spPr>
          <a:xfrm>
            <a:off x="5449824" y="1636776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80" dirty="0">
                <a:solidFill>
                  <a:schemeClr val="tx1"/>
                </a:solidFill>
              </a:rPr>
              <a:t>Policy as data: ASP JSON declarations drive the gateway, not code constants</a:t>
            </a:r>
            <a:endParaRPr lang="en-US" sz="1580" dirty="0"/>
          </a:p>
        </p:txBody>
      </p:sp>
      <p:sp>
        <p:nvSpPr>
          <p:cNvPr id="10" name="Card 03"/>
          <p:cNvSpPr/>
          <p:nvPr/>
        </p:nvSpPr>
        <p:spPr>
          <a:xfrm>
            <a:off x="566928" y="3072384"/>
            <a:ext cx="3904488" cy="14264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Numeral 03"/>
          <p:cNvSpPr txBox="1"/>
          <p:nvPr/>
        </p:nvSpPr>
        <p:spPr>
          <a:xfrm>
            <a:off x="740664" y="31821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03</a:t>
            </a:r>
            <a:endParaRPr lang="en-US" sz="285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22783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80" dirty="0">
                <a:solidFill>
                  <a:schemeClr val="tx1"/>
                </a:solidFill>
              </a:rPr>
              <a:t>Report-only mode: historical actions are scored, never claimed as prevented</a:t>
            </a:r>
            <a:endParaRPr lang="en-US" sz="1580" dirty="0"/>
          </a:p>
        </p:txBody>
      </p:sp>
      <p:sp>
        <p:nvSpPr>
          <p:cNvPr id="13" name="Card 04"/>
          <p:cNvSpPr/>
          <p:nvPr/>
        </p:nvSpPr>
        <p:spPr>
          <a:xfrm>
            <a:off x="4663440" y="3072384"/>
            <a:ext cx="3904488" cy="14264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Numeral 04"/>
          <p:cNvSpPr txBox="1"/>
          <p:nvPr/>
        </p:nvSpPr>
        <p:spPr>
          <a:xfrm>
            <a:off x="4837176" y="31821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04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5449824" y="322783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80" dirty="0">
                <a:solidFill>
                  <a:schemeClr val="tx1"/>
                </a:solidFill>
              </a:rPr>
              <a:t>Episode tracking: a full scan ranks where swarm-like coordination appeared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Data: from gated export to replayable events</a:t>
            </a:r>
            <a:endParaRPr lang="en-US" sz="2850" dirty="0"/>
          </a:p>
        </p:txBody>
      </p:sp>
      <p:sp>
        <p:nvSpPr>
          <p:cNvPr id="4" name="Stat normalized events"/>
          <p:cNvSpPr/>
          <p:nvPr/>
        </p:nvSpPr>
        <p:spPr>
          <a:xfrm>
            <a:off x="566928" y="1371600"/>
            <a:ext cx="1828800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0664" y="1554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1.23M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1579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normalized events</a:t>
            </a:r>
            <a:endParaRPr lang="en-US" sz="1200" dirty="0"/>
          </a:p>
        </p:txBody>
      </p:sp>
      <p:sp>
        <p:nvSpPr>
          <p:cNvPr id="7" name="Stat village days"/>
          <p:cNvSpPr/>
          <p:nvPr/>
        </p:nvSpPr>
        <p:spPr>
          <a:xfrm>
            <a:off x="2551176" y="1371600"/>
            <a:ext cx="1828800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24912" y="1554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389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21579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village days</a:t>
            </a:r>
            <a:endParaRPr lang="en-US" sz="1200" dirty="0"/>
          </a:p>
        </p:txBody>
      </p:sp>
      <p:sp>
        <p:nvSpPr>
          <p:cNvPr id="10" name="Stat agents, 30+ models"/>
          <p:cNvSpPr/>
          <p:nvPr/>
        </p:nvSpPr>
        <p:spPr>
          <a:xfrm>
            <a:off x="566928" y="2834640"/>
            <a:ext cx="1828800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" y="36210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agents, 30+ models</a:t>
            </a:r>
            <a:endParaRPr lang="en-US" sz="1200" dirty="0"/>
          </a:p>
        </p:txBody>
      </p:sp>
      <p:sp>
        <p:nvSpPr>
          <p:cNvPr id="13" name="Stat indexed episodes"/>
          <p:cNvSpPr/>
          <p:nvPr/>
        </p:nvSpPr>
        <p:spPr>
          <a:xfrm>
            <a:off x="2551176" y="2834640"/>
            <a:ext cx="1828800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4912" y="3017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466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36210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indexed episodes</a:t>
            </a:r>
            <a:endParaRPr lang="en-US" sz="1200" dirty="0"/>
          </a:p>
        </p:txBody>
      </p:sp>
      <p:sp>
        <p:nvSpPr>
          <p:cNvPr id="16" name="Table mapping"/>
          <p:cNvSpPr/>
          <p:nvPr/>
        </p:nvSpPr>
        <p:spPr>
          <a:xfrm>
            <a:off x="4572000" y="1371600"/>
            <a:ext cx="3995928" cy="27614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chat_messages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764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Messages, with mentions as graph edges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157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computer_use_turns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404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Shell commands and village tool calls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798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claude_code_messages</a:t>
            </a:r>
            <a:endParaRPr lang="en-US" sz="113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Code tool calls under real tool names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685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Admitted identities for the gateway registry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31596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1.4M GUI micro-actions (clicks, scrolls, screenshots) are counted, not replayed. Export of 2026-09-20.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Design: policy declared as data</a:t>
            </a:r>
            <a:endParaRPr lang="en-US" sz="2850" dirty="0"/>
          </a:p>
        </p:txBody>
      </p:sp>
      <p:sp>
        <p:nvSpPr>
          <p:cNvPr id="4" name="Policy excerpt"/>
          <p:cNvSpPr/>
          <p:nvPr/>
        </p:nvSpPr>
        <p:spPr>
          <a:xfrm>
            <a:off x="566928" y="1325880"/>
            <a:ext cx="4069080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Policy JSON"/>
          <p:cNvSpPr txBox="1"/>
          <p:nvPr/>
        </p:nvSpPr>
        <p:spPr>
          <a:xfrm>
            <a:off x="731520" y="1463040"/>
            <a:ext cx="3794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"asp-version": "1.0",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"network": { "default": "deny",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["*.gitlab.io", "github.com", ...]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"tools": { "default": "deny",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"allow": ["village:*", "cc:Bash", ...],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"deny-arguments": [ credential store,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force push, pipe to shell, ... ]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"content-trust":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"contaminated-write": "report"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"delegation": { "max-depth": 4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"swarm": { "window-seconds": 600,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"write-cap": 12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Evaluation order (ASP Algorithm 1)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7007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30368" y="17007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Admission and parent-span lineage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1031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30368" y="210312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Explicit deny list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5054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5054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Default-deny allowlist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907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9077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Argument constraints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31012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33101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Network destination scope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7124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37124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Content-trust contamination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1148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41148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cap and repeated intent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Design: enforce versus report-only</a:t>
            </a:r>
            <a:endParaRPr lang="en-US" sz="2850" dirty="0"/>
          </a:p>
        </p:txBody>
      </p:sp>
      <p:sp>
        <p:nvSpPr>
          <p:cNvPr id="4" name="Synthetic scenarios"/>
          <p:cNvSpPr/>
          <p:nvPr/>
        </p:nvSpPr>
        <p:spPr>
          <a:xfrm>
            <a:off x="566928" y="1371600"/>
            <a:ext cx="3904488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Synthetic scenarios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081528" y="1563624"/>
            <a:ext cx="1188720" cy="27432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ENFORCE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031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Blocked calls never execute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Revocation stops an agent and its descendants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Mock tools and deterministic samples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Decisions identical to v1</a:t>
            </a:r>
            <a:endParaRPr lang="en-US" sz="1500" dirty="0"/>
          </a:p>
        </p:txBody>
      </p:sp>
      <p:sp>
        <p:nvSpPr>
          <p:cNvPr id="8" name="AI Village replay"/>
          <p:cNvSpPr/>
          <p:nvPr/>
        </p:nvSpPr>
        <p:spPr>
          <a:xfrm>
            <a:off x="4663440" y="1371600"/>
            <a:ext cx="3904488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460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Village replay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563624"/>
            <a:ext cx="1188720" cy="27432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REPORT-ONLY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1031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action already happened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Drops read as would drop; rows are marked happened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Revocation measures counterfactual containment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Violations are reported, not enforced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Architecture: processing pipeline</a:t>
            </a:r>
            <a:endParaRPr lang="en-US" sz="2850" dirty="0"/>
          </a:p>
        </p:txBody>
      </p:sp>
      <p:sp>
        <p:nvSpPr>
          <p:cNvPr id="4" name="Stage AI Village"/>
          <p:cNvSpPr/>
          <p:nvPr/>
        </p:nvSpPr>
        <p:spPr>
          <a:xfrm>
            <a:off x="566928" y="1371600"/>
            <a:ext cx="114300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716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AI Village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28216" y="1591056"/>
            <a:ext cx="192024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tage Normalize"/>
          <p:cNvSpPr/>
          <p:nvPr/>
        </p:nvSpPr>
        <p:spPr>
          <a:xfrm>
            <a:off x="1938528" y="1371600"/>
            <a:ext cx="114300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38528" y="13716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Normalize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99816" y="1591056"/>
            <a:ext cx="192024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tage Local store"/>
          <p:cNvSpPr/>
          <p:nvPr/>
        </p:nvSpPr>
        <p:spPr>
          <a:xfrm>
            <a:off x="3310128" y="1371600"/>
            <a:ext cx="114300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10128" y="13716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Local store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71416" y="1591056"/>
            <a:ext cx="192024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tage ASP gateway"/>
          <p:cNvSpPr/>
          <p:nvPr/>
        </p:nvSpPr>
        <p:spPr>
          <a:xfrm>
            <a:off x="4681728" y="1371600"/>
            <a:ext cx="1143000" cy="43891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81728" y="13716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ASP gateway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43016" y="1591056"/>
            <a:ext cx="192024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tage Sentinel"/>
          <p:cNvSpPr/>
          <p:nvPr/>
        </p:nvSpPr>
        <p:spPr>
          <a:xfrm>
            <a:off x="6053328" y="1371600"/>
            <a:ext cx="114300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53328" y="13716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Sentinel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14616" y="1591056"/>
            <a:ext cx="192024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tage Reporter + UI"/>
          <p:cNvSpPr/>
          <p:nvPr/>
        </p:nvSpPr>
        <p:spPr>
          <a:xfrm>
            <a:off x="7424928" y="1371600"/>
            <a:ext cx="114300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24928" y="13716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Reporter + UI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253228" y="1810512"/>
            <a:ext cx="0" cy="4572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  <a:head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521708" y="22860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synthetic scenarios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4828" y="1810512"/>
            <a:ext cx="0" cy="4572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893308" y="22860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episode scan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2697480"/>
            <a:ext cx="8001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80" dirty="0">
                <a:solidFill>
                  <a:schemeClr val="tx1"/>
                </a:solidFill>
              </a:rPr>
              <a:t>Normalize maps chat, shell and tool calls onto one event model</a:t>
            </a:r>
            <a:endParaRPr lang="en-US" sz="1580" dirty="0"/>
          </a:p>
          <a:p>
            <a:pPr marL="177800" indent="-177800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80" dirty="0">
                <a:solidFill>
                  <a:schemeClr val="tx1"/>
                </a:solidFill>
              </a:rPr>
              <a:t>The SQLite store stays out of git; the server slices it by time window</a:t>
            </a:r>
            <a:endParaRPr lang="en-US" sz="1580" dirty="0"/>
          </a:p>
          <a:p>
            <a:pPr marL="177800" indent="-177800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80" dirty="0">
                <a:solidFill>
                  <a:schemeClr val="tx1"/>
                </a:solidFill>
              </a:rPr>
              <a:t>The gateway scores each call against the policy file and logs violations</a:t>
            </a:r>
            <a:endParaRPr lang="en-US" sz="1580" dirty="0"/>
          </a:p>
          <a:p>
            <a:pPr marL="177800" indent="-177800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80" dirty="0">
                <a:solidFill>
                  <a:schemeClr val="tx1"/>
                </a:solidFill>
              </a:rPr>
              <a:t>Sentinel finds coordination in 600-second windows; the scan ranks episodes</a:t>
            </a:r>
            <a:endParaRPr lang="en-US" sz="1580" dirty="0"/>
          </a:p>
          <a:p>
            <a:pPr marL="177800" indent="-177800">
              <a:spcAft>
                <a:spcPts val="5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80" dirty="0">
                <a:solidFill>
                  <a:schemeClr val="tx1"/>
                </a:solidFill>
              </a:rPr>
              <a:t>Reporter and dashboard carry provenance, citation and counterfactual labels</a:t>
            </a:r>
            <a:endParaRPr lang="en-US" sz="1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Tripwires on real traffic</a:t>
            </a:r>
            <a:endParaRPr lang="en-US" sz="2850" dirty="0"/>
          </a:p>
        </p:txBody>
      </p:sp>
      <p:sp>
        <p:nvSpPr>
          <p:cNvPr id="4" name="Chart panel"/>
          <p:cNvSpPr/>
          <p:nvPr/>
        </p:nvSpPr>
        <p:spPr>
          <a:xfrm>
            <a:off x="566928" y="1325880"/>
            <a:ext cx="4983480" cy="3246120"/>
          </a:xfrm>
          <a:prstGeom prst="rect">
            <a:avLst/>
          </a:prstGeom>
          <a:solidFill>
            <a:schemeClr val="bg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685800" y="1417320"/>
          <a:ext cx="47548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 1"/>
          <p:cNvSpPr/>
          <p:nvPr/>
        </p:nvSpPr>
        <p:spPr>
          <a:xfrm>
            <a:off x="5760720" y="1325880"/>
            <a:ext cx="2807208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0" y="15270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160 of 389</a:t>
            </a:r>
            <a:endParaRPr lang="en-US" sz="285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1305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 raised no alert at all</a:t>
            </a:r>
            <a:endParaRPr lang="en-US" sz="1400" dirty="0"/>
          </a:p>
        </p:txBody>
      </p:sp>
      <p:sp>
        <p:nvSpPr>
          <p:cNvPr id="9" name="Callout 2"/>
          <p:cNvSpPr/>
          <p:nvPr/>
        </p:nvSpPr>
        <p:spPr>
          <a:xfrm>
            <a:off x="5760720" y="3017520"/>
            <a:ext cx="2807208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3218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996</a:t>
            </a:r>
            <a:endParaRPr lang="en-US" sz="285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82219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alerts in total, clustered into 466 episodes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What the policy would have blocked</a:t>
            </a:r>
            <a:endParaRPr lang="en-US" sz="2850" dirty="0"/>
          </a:p>
        </p:txBody>
      </p:sp>
      <p:sp>
        <p:nvSpPr>
          <p:cNvPr id="4" name="Chart panel"/>
          <p:cNvSpPr/>
          <p:nvPr/>
        </p:nvSpPr>
        <p:spPr>
          <a:xfrm>
            <a:off x="566928" y="1325880"/>
            <a:ext cx="4983480" cy="3246120"/>
          </a:xfrm>
          <a:prstGeom prst="rect">
            <a:avLst/>
          </a:prstGeom>
          <a:solidFill>
            <a:schemeClr val="bg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685800" y="1417320"/>
          <a:ext cx="47548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 total"/>
          <p:cNvSpPr/>
          <p:nvPr/>
        </p:nvSpPr>
        <p:spPr>
          <a:xfrm>
            <a:off x="5760720" y="1325880"/>
            <a:ext cx="2807208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0" y="15270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97,472</a:t>
            </a:r>
            <a:endParaRPr lang="en-US" sz="285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1305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actions, 7.9% of all replayed events</a:t>
            </a:r>
            <a:endParaRPr lang="en-US" sz="1400" dirty="0"/>
          </a:p>
        </p:txBody>
      </p:sp>
      <p:sp>
        <p:nvSpPr>
          <p:cNvPr id="9" name="Callout network"/>
          <p:cNvSpPr/>
          <p:nvPr/>
        </p:nvSpPr>
        <p:spPr>
          <a:xfrm>
            <a:off x="5760720" y="3017520"/>
            <a:ext cx="2807208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3127248"/>
            <a:ext cx="24871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 network drops are ordinary research reading, such as prediction markets, arXiv and news. A strict scope sits far from how these agents work.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Risky commands in the record</a:t>
            </a:r>
            <a:endParaRPr lang="en-US" sz="2850" dirty="0"/>
          </a:p>
        </p:txBody>
      </p:sp>
      <p:sp>
        <p:nvSpPr>
          <p:cNvPr id="4" name="Stat credential-store reads"/>
          <p:cNvSpPr/>
          <p:nvPr/>
        </p:nvSpPr>
        <p:spPr>
          <a:xfrm>
            <a:off x="566928" y="1325880"/>
            <a:ext cx="185623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4,681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credential-store reads</a:t>
            </a:r>
            <a:endParaRPr lang="en-US" sz="1200" dirty="0"/>
          </a:p>
        </p:txBody>
      </p:sp>
      <p:sp>
        <p:nvSpPr>
          <p:cNvPr id="7" name="Stat force pushes to shared history"/>
          <p:cNvSpPr/>
          <p:nvPr/>
        </p:nvSpPr>
        <p:spPr>
          <a:xfrm>
            <a:off x="2615184" y="1325880"/>
            <a:ext cx="185623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79776" y="14630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439</a:t>
            </a:r>
            <a:endParaRPr lang="en-US" sz="2850" dirty="0"/>
          </a:p>
        </p:txBody>
      </p:sp>
      <p:sp>
        <p:nvSpPr>
          <p:cNvPr id="9" name="Text 7"/>
          <p:cNvSpPr txBox="1"/>
          <p:nvPr/>
        </p:nvSpPr>
        <p:spPr>
          <a:xfrm>
            <a:off x="2779776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force pushes to shared history</a:t>
            </a:r>
            <a:endParaRPr lang="en-US" sz="1200" dirty="0"/>
          </a:p>
        </p:txBody>
      </p:sp>
      <p:sp>
        <p:nvSpPr>
          <p:cNvPr id="10" name="Stat environment secret disclosures"/>
          <p:cNvSpPr/>
          <p:nvPr/>
        </p:nvSpPr>
        <p:spPr>
          <a:xfrm>
            <a:off x="4663440" y="1325880"/>
            <a:ext cx="185623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28032" y="14630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384</a:t>
            </a:r>
            <a:endParaRPr lang="en-US" sz="28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environment secret disclosures</a:t>
            </a:r>
            <a:endParaRPr lang="en-US" sz="1200" dirty="0"/>
          </a:p>
        </p:txBody>
      </p:sp>
      <p:sp>
        <p:nvSpPr>
          <p:cNvPr id="13" name="Stat remote scripts piped to a shell"/>
          <p:cNvSpPr/>
          <p:nvPr/>
        </p:nvSpPr>
        <p:spPr>
          <a:xfrm>
            <a:off x="6711696" y="1325880"/>
            <a:ext cx="185623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76288" y="146304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50" b="1" dirty="0">
                <a:solidFill>
                  <a:schemeClr val="accent1"/>
                </a:solidFill>
              </a:rPr>
              <a:t>8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remote scripts piped to a shell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74320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Credential reads span 22 agents, 98% after the 2026-03-24 scaffolding change; most pull the GitLab token from glab's config to call the API directly.</a:t>
            </a:r>
            <a:endParaRPr lang="en-US" sz="1200" dirty="0"/>
          </a:p>
        </p:txBody>
      </p:sp>
      <p:sp>
        <p:nvSpPr>
          <p:cNvPr id="17" name="Contamination"/>
          <p:cNvSpPr/>
          <p:nvPr/>
        </p:nvSpPr>
        <p:spPr>
          <a:xfrm>
            <a:off x="566928" y="3291840"/>
            <a:ext cx="800100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4290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44%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34290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101,332 shared-state writes came from a session that had already read untrusted web content. The content-trust rule reports these rather than blocking them.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Dashboard: replaying an AI Village episode</a:t>
            </a:r>
            <a:endParaRPr lang="en-US" sz="28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Episodes ranked by tripwire activity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Counters show would throttle and would drop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event links to its dataset row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Replay at 1x, 10x or 50x on a binned timeline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Limits &amp; data tab carries citation and summary</a:t>
            </a:r>
            <a:endParaRPr lang="en-US" sz="1500" dirty="0"/>
          </a:p>
        </p:txBody>
      </p:sp>
      <p:pic>
        <p:nvPicPr>
          <p:cNvPr id="5" name="Dashboard screenshot" descr="SwarmSentinel dashboard replaying the 2026-05-11 AI Village episode, with revoked agents highlighted and the tripwire list 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1463040"/>
            <a:ext cx="4572000" cy="21608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95928" y="3697013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2026-05-11 episode: 2,871 events, 9 tripwires, report-only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 number"/>
          <p:cNvSpPr txBox="1"/>
          <p:nvPr/>
        </p:nvSpPr>
        <p:spPr>
          <a:xfrm>
            <a:off x="7653528" y="4864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3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11</a:t>
            </a:r>
            <a:endParaRPr lang="en-US" sz="113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66928" y="566928"/>
            <a:ext cx="8001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chemeClr val="tx1"/>
                </a:solidFill>
              </a:rPr>
              <a:t>Prototype boundaries and data handling</a:t>
            </a:r>
            <a:endParaRPr lang="en-US" sz="2850" dirty="0"/>
          </a:p>
        </p:txBody>
      </p:sp>
      <p:sp>
        <p:nvSpPr>
          <p:cNvPr id="4" name="Data handling"/>
          <p:cNvSpPr/>
          <p:nvPr/>
        </p:nvSpPr>
        <p:spPr>
          <a:xfrm>
            <a:off x="566928" y="1325880"/>
            <a:ext cx="3904488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handling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9339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Raw files and the store stay local and gitignored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Humans become one anonymous actor, text withheld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Share aggregates, not rows; cite AI Digest / AI Village</a:t>
            </a:r>
            <a:endParaRPr lang="en-US" sz="1500" dirty="0"/>
          </a:p>
        </p:txBody>
      </p:sp>
      <p:sp>
        <p:nvSpPr>
          <p:cNvPr id="7" name="Limits"/>
          <p:cNvSpPr/>
          <p:nvPr/>
        </p:nvSpPr>
        <p:spPr>
          <a:xfrm>
            <a:off x="4663440" y="1325880"/>
            <a:ext cx="3904488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64608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99339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Replays are counterfactual, not proof of prevention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GUI edits to shared documents are not seen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sub-agent spawns exist in the export</a:t>
            </a:r>
            <a:endParaRPr lang="en-US" sz="1500" dirty="0"/>
          </a:p>
          <a:p>
            <a:pPr marL="177800" indent="-177800">
              <a:spcAft>
                <a:spcPts val="9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Thresholds are calibrated on one dataset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rmSentinel">
  <a:themeElements>
    <a:clrScheme name="SwarmSentinel">
      <a:dk1>
        <a:srgbClr val="E0E6EB"/>
      </a:dk1>
      <a:lt1>
        <a:srgbClr val="0C1118"/>
      </a:lt1>
      <a:dk2>
        <a:srgbClr val="919DAC"/>
      </a:dk2>
      <a:lt2>
        <a:srgbClr val="121821"/>
      </a:lt2>
      <a:accent1>
        <a:srgbClr val="29BC86"/>
      </a:accent1>
      <a:accent2>
        <a:srgbClr val="222A35"/>
      </a:accent2>
      <a:accent3>
        <a:srgbClr val="F5B83D"/>
      </a:accent3>
      <a:accent4>
        <a:srgbClr val="FF5D5D"/>
      </a:accent4>
      <a:accent5>
        <a:srgbClr val="5CC8FF"/>
      </a:accent5>
      <a:accent6>
        <a:srgbClr val="3DDC97"/>
      </a:accent6>
      <a:hlink>
        <a:srgbClr val="29BC86"/>
      </a:hlink>
      <a:folHlink>
        <a:srgbClr val="919DAC"/>
      </a:folHlink>
    </a:clrScheme>
    <a:fontScheme name="SwarmSentinel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SwarmSentinel v2.0</dc:title>
  <dc:subject>PptxGenJS Presentation</dc:subject>
  <dc:creator>Prasad MK</dc:creator>
  <cp:lastModifiedBy>Prasad MK</cp:lastModifiedBy>
  <cp:revision>1</cp:revision>
  <dcterms:created xsi:type="dcterms:W3CDTF">2026-10-03T22:22:53Z</dcterms:created>
  <dcterms:modified xsi:type="dcterms:W3CDTF">2026-10-03T22:22:53Z</dcterms:modified>
</cp:coreProperties>
</file>